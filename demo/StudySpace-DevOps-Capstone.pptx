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576288-DBCE-45E6-88CF-7A8103C91065}" v="323" dt="2026-10-16T10:53:18.9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StudySpace, a student assignment planner developed as a full-stack DevOps capstone. This presentation follows the rubric from application and tests through cloud infrastructure and observability. AWS resources were destroyed after capture.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lifecycle and map it to grading modules: application, testing, GitHub, Docker, CI/CD, DevSecOps, Terraform, Kubernetes/Helm, observability, and presentation/documentation.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architecture as an editable diagram. Student browser traffic reaches React; REST calls go to FastAPI; SQLAlchemy connects to PostgreSQL. Alembic runs migrations. Metrics expose health and API performance to Prometheus and Grafana.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product: StudySpace planner. The React dashboard gives students one place to track assignments, due dates, status, and priority. The captured view is the initial empty state; the UI is running locally at port 3000.</a:t>
            </a:r>
          </a:p>
          <a:p>
            <a:r>
              <a:t>Screenshot placeholder: evidence/01-local-app.png.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Automated API tests: 6 passed. The test suite covers health, root response, assignment CRUD, statistics, and validation. Run shown with Python 3.12.15. One Starlette/httpx deprecation warning is non-failing.</a:t>
            </a:r>
          </a:p>
          <a:p>
            <a:r>
              <a:t>Screenshot placeholder: evidence/02-pytest.png.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Docker Compose brings the stack up. Compose builds and starts the frontend, backend, and PostgreSQL with service health checks. Local entry points: frontend :3000 • API :8000 • PostgreSQL :5432.</a:t>
            </a:r>
          </a:p>
          <a:p>
            <a:r>
              <a:t>Screenshot placeholder: evidence/03-compose-startup.png.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services are running together. The container view confirms the app components are separated and communicating. This is the reproducible local demo path used before the AWS deployment.</a:t>
            </a:r>
          </a:p>
          <a:p>
            <a:r>
              <a:t>Screenshot placeholder: evidence/04-compose-containers.png.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 history records incremental delivery. The repository history shows the project evolving through reviewable changes. Source repository: github.com/TanushShoor/devops-project.</a:t>
            </a:r>
          </a:p>
          <a:p>
            <a:r>
              <a:t>Screenshot placeholder: evidence/05-github-commits.png.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GitHub Actions: final pipeline succeeds. The final captured run is green for the tested commit and build/scan/push stages. Run #14 • commit 79d3c64 • test job and build-scan-push job succeeded.</a:t>
            </a:r>
          </a:p>
          <a:p>
            <a:r>
              <a:t>Screenshot placeholder: evidence/06-actions-green.png.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scan stage in the workflow. The pipeline scans the built backend and frontend images before publishing. The workflow blocks images with unfixed HIGH or CRITICAL findings.</a:t>
            </a:r>
          </a:p>
          <a:p>
            <a:r>
              <a:t>Screenshot placeholder: evidence/07-trivy-scans.png.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Backend image scan result. Trivy reports zero vulnerabilities for the backend image in this captured run. The scan applies to the exact image produced for the recorded commit.</a:t>
            </a:r>
          </a:p>
          <a:p>
            <a:r>
              <a:t>Screenshot placeholder: evidence/07(a)-trivy-scans.png.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Frontend image scan result. Trivy reports zero vulnerabilities for the frontend image in this captured run. Both application images passed the configured severity gate.</a:t>
            </a:r>
          </a:p>
          <a:p>
            <a:r>
              <a:t>Screenshot placeholder: evidence/07(b)-trivy-scans.png.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Immutable images published to GHCR. Both services are published under separate package names and tagged with the full commit SHA. The SHA ties a deployed image back to a specific source revision.</a:t>
            </a:r>
          </a:p>
          <a:p>
            <a:r>
              <a:t>Screenshot placeholder: evidence/08-ghcr-images.png.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Terraform plan check after provisioning. This screenshot is a post-apply plan check and reports no remaining changes. The original reviewed plan was 4 to add; that initial non-empty plan screenshot is not in the evidence folder.</a:t>
            </a:r>
          </a:p>
          <a:p>
            <a:r>
              <a:t>Screenshot placeholder: evidence/09-terraform-plan.png.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second no-change Terraform check. The additional plan capture also confirms the provisioned configuration was stable. Do not interpret this screenshot as the original create plan; it was taken after deployment.</a:t>
            </a:r>
          </a:p>
          <a:p>
            <a:r>
              <a:t>Screenshot placeholder: evidence/18-terraform-plan.png.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AWS network and EKS cluster were live. The console evidence shows the VPC and EKS cluster available in ap-southeast-2. This was a temporary student demo environment and has since been destroyed.</a:t>
            </a:r>
          </a:p>
          <a:p>
            <a:r>
              <a:t>Screenshot placeholder: evidence/10-aws-vpc-eks.png.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VPC layout: public and private subnets. The network layer contains two public and two private subnets with a NAT gateway. Terraform managed the VPC resources used by the EKS cluster.</a:t>
            </a:r>
          </a:p>
          <a:p>
            <a:r>
              <a:t>Screenshot placeholder: evidence/vpc.png.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EKS control plane and managed nodes. The EKS console confirms the StudySpace cluster and managed capacity during the demo. The worker group used two t3.small instances for this short evidence run.</a:t>
            </a:r>
          </a:p>
          <a:p>
            <a:r>
              <a:t>Screenshot placeholder: evidence/eks.png.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Kubernetes workloads reached Running. The application and PostgreSQL pods were scheduled and ready in the cluster. Backend and frontend ran as Deployments with multiple replicas.</a:t>
            </a:r>
          </a:p>
          <a:p>
            <a:r>
              <a:t>Screenshot placeholder: evidence/11-kubernetes-pods.png.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Kubernetes Services connect the pods. ClusterIP Services provide stable internal endpoints for the frontend, API, and database. The service layer routes requests independently of individual pod addresses.</a:t>
            </a:r>
          </a:p>
          <a:p>
            <a:r>
              <a:t>Screenshot placeholder: evidence/12-kubernetes-services.png.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Helm manages the StudySpace release. The Helm release records the chart deployment and revision in the cluster. Helm packages the Kubernetes configuration for repeatable installs and upgrades.</a:t>
            </a:r>
          </a:p>
          <a:p>
            <a:r>
              <a:t>Screenshot placeholder: evidence/13-helm-release.png.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deployed app was reachable through Ingress. The browser screenshot proves the application was available through the cloud load balancer. The AWS load balancer endpoint was temporary and is no longer active after teardown.</a:t>
            </a:r>
          </a:p>
          <a:p>
            <a:r>
              <a:t>Screenshot placeholder: evidence/14-ingress-app.png.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FastAPI exposes operational metrics. The backend metrics endpoint reports request counts and response measurements. Prometheus can scrape the metrics endpoint for alerting and dashboards.</a:t>
            </a:r>
          </a:p>
          <a:p>
            <a:r>
              <a:t>Screenshot placeholder: evidence/15-backend-metrics.png.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Prometheus scraped both backend replicas. Both backend targets are marked UP in the captured Prometheus targets page. This confirms service discovery and live scraping worked during the demo.</a:t>
            </a:r>
          </a:p>
          <a:p>
            <a:r>
              <a:t>Screenshot placeholder: evidence/16-prometheus-target.png.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Grafana visualizes API health. The StudySpace dashboard shows request-rate data and backend scrape health as UP. The p95 and 5xx panels show no samples in this capture; the dashboard is provisioned for those metrics.</a:t>
            </a:r>
          </a:p>
          <a:p>
            <a:r>
              <a:t>Screenshot placeholder: evidence/17-grafana-dashboard.png.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Cloud resources were destroyed after capture. Terraform reported 58 resources destroyed, and the EKS cluster was verified absent. Cleanup keeps the student AWS account from leaving demo infrastructure running.</a:t>
            </a:r>
          </a:p>
          <a:p>
            <a:r>
              <a:t>Screenshot placeholder: evidence/18-terraform-destroyed.png. Replace it with the corresponding image before presenting.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summarizing outcomes against the grading rubric. The AWS runtime is intentionally gone after cleanup. For a live demo without incurring cloud usage, show the local stack, test results, successful Actions workflow, and captured cloud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F64495A-6B46-4F4A-BA90-40A46376393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F482B672-106B-49D0-BEB3-594F52DCEC6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1E990C4-9A3E-4B02-8F78-4BC899877FE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AE8E3CA-5FBA-41D5-9722-69C42894421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17EC30D5-96C9-4D87-AA5B-67A9104B318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FE610B3-48FE-4259-91F1-CFE9D398CD7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579D23B-2230-47E7-85FC-5E977C2C5BE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2195CD2B-9C75-4CAA-BA09-6CC3391BD70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960EEFB-4B05-4210-83AE-B4EA762C806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3E817EF-EEE5-4960-95F6-17BA1FE378E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33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713C62-4576-41A7-910E-E59BE01B14E2}"/>
              </a:ext>
            </a:extLst>
          </p:cNvPr>
          <p:cNvSpPr>
            <a:spLocks noGrp="1"/>
          </p:cNvSpPr>
          <p:nvPr/>
        </p:nvSpPr>
        <p:spPr>
          <a:xfrm>
            <a:off x="0" y="0"/>
            <a:ext cx="152400" cy="685800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9F93EC3A-6E5E-4246-BEB9-5A6802AFA015}"/>
              </a:ext>
            </a:extLst>
          </p:cNvPr>
          <p:cNvSpPr>
            <a:spLocks noGrp="1"/>
          </p:cNvSpPr>
          <p:nvPr/>
        </p:nvSpPr>
        <p:spPr>
          <a:xfrm>
            <a:off x="723900" y="781050"/>
            <a:ext cx="7239000" cy="285750"/>
          </a:xfrm>
          <a:prstGeom prst="rect">
            <a:avLst/>
          </a:prstGeom>
          <a:noFill/>
          <a:ln w="0">
            <a:noFill/>
            <a:prstDash val="solid"/>
          </a:ln>
        </p:spPr>
        <p:txBody>
          <a:bodyPr lIns="0" tIns="0" rIns="0" bIns="0" anchor="ctr">
            <a:normAutofit/>
          </a:bodyPr>
          <a:lstStyle>
            <a:defPPr algn="l">
              <a:defRPr sz="1200" b="1">
                <a:solidFill>
                  <a:srgbClr val="8AD8C7"/>
                </a:solidFill>
                <a:latin typeface="Arial"/>
                <a:ea typeface="Arial"/>
                <a:cs typeface="Arial"/>
              </a:defRPr>
            </a:defPPr>
          </a:lstStyle>
          <a:p>
            <a:pPr>
              <a:defRPr sz="1200" b="1">
                <a:solidFill>
                  <a:srgbClr val="8AD8C7"/>
                </a:solidFill>
                <a:latin typeface="Arial"/>
                <a:ea typeface="Arial"/>
                <a:cs typeface="Arial"/>
              </a:defRPr>
            </a:pPr>
            <a:r>
              <a:rPr sz="1200" b="1">
                <a:solidFill>
                  <a:srgbClr val="8AD8C7"/>
                </a:solidFill>
                <a:latin typeface="Arial"/>
                <a:ea typeface="Arial"/>
                <a:cs typeface="Arial"/>
              </a:rPr>
              <a:t>SESSION 21 • DEVOPS CAPSTONE</a:t>
            </a:r>
            <a:r>
              <a:rPr lang="en-US" sz="1200" b="1">
                <a:solidFill>
                  <a:srgbClr val="8AD8C7"/>
                </a:solidFill>
                <a:latin typeface="Arial"/>
                <a:ea typeface="Arial"/>
                <a:cs typeface="Arial"/>
              </a:rPr>
              <a:t> PROJECT</a:t>
            </a:r>
            <a:endParaRPr sz="1200" b="1">
              <a:solidFill>
                <a:srgbClr val="8AD8C7"/>
              </a:solidFill>
              <a:latin typeface="Arial"/>
              <a:ea typeface="Arial"/>
              <a:cs typeface="Arial"/>
            </a:endParaRPr>
          </a:p>
        </p:txBody>
      </p:sp>
      <p:sp>
        <p:nvSpPr>
          <p:cNvPr id="3" name="Rectangle 2">
            <a:extLst>
              <a:ext uri="{FF2B5EF4-FFF2-40B4-BE49-F238E27FC236}">
                <a16:creationId xmlns:a16="http://schemas.microsoft.com/office/drawing/2014/main" id="{281B672B-E1F7-448B-A997-5411DDDCB73E}"/>
              </a:ext>
            </a:extLst>
          </p:cNvPr>
          <p:cNvSpPr>
            <a:spLocks noGrp="1"/>
          </p:cNvSpPr>
          <p:nvPr/>
        </p:nvSpPr>
        <p:spPr>
          <a:xfrm>
            <a:off x="723900" y="1381125"/>
            <a:ext cx="7620000" cy="895350"/>
          </a:xfrm>
          <a:prstGeom prst="rect">
            <a:avLst/>
          </a:prstGeom>
          <a:noFill/>
          <a:ln w="0">
            <a:noFill/>
            <a:prstDash val="solid"/>
          </a:ln>
        </p:spPr>
        <p:txBody>
          <a:bodyPr lIns="0" tIns="0" rIns="0" bIns="0" anchor="ctr">
            <a:normAutofit/>
          </a:bodyPr>
          <a:lstStyle>
            <a:defPPr algn="l">
              <a:defRPr sz="4800" b="1">
                <a:solidFill>
                  <a:srgbClr val="FFFFFF"/>
                </a:solidFill>
                <a:latin typeface="Arial"/>
                <a:ea typeface="Arial"/>
                <a:cs typeface="Arial"/>
              </a:defRPr>
            </a:defPPr>
          </a:lstStyle>
          <a:p>
            <a:pPr algn="l">
              <a:defRPr sz="4800" b="1">
                <a:solidFill>
                  <a:srgbClr val="FFFFFF"/>
                </a:solidFill>
                <a:latin typeface="Arial"/>
                <a:ea typeface="Arial"/>
                <a:cs typeface="Arial"/>
              </a:defRPr>
            </a:pPr>
            <a:r>
              <a:rPr sz="4800" b="1">
                <a:solidFill>
                  <a:srgbClr val="FFFFFF"/>
                </a:solidFill>
                <a:latin typeface="Arial"/>
                <a:ea typeface="Arial"/>
                <a:cs typeface="Arial"/>
              </a:rPr>
              <a:t>StudySpace</a:t>
            </a:r>
          </a:p>
        </p:txBody>
      </p:sp>
      <p:sp>
        <p:nvSpPr>
          <p:cNvPr id="4" name="Rectangle 3">
            <a:extLst>
              <a:ext uri="{FF2B5EF4-FFF2-40B4-BE49-F238E27FC236}">
                <a16:creationId xmlns:a16="http://schemas.microsoft.com/office/drawing/2014/main" id="{C27F8E65-D9BB-42E2-8557-CF379E4F8749}"/>
              </a:ext>
            </a:extLst>
          </p:cNvPr>
          <p:cNvSpPr>
            <a:spLocks noGrp="1"/>
          </p:cNvSpPr>
          <p:nvPr/>
        </p:nvSpPr>
        <p:spPr>
          <a:xfrm>
            <a:off x="742950" y="2381250"/>
            <a:ext cx="7429500" cy="742950"/>
          </a:xfrm>
          <a:prstGeom prst="rect">
            <a:avLst/>
          </a:prstGeom>
          <a:noFill/>
          <a:ln w="0">
            <a:noFill/>
            <a:prstDash val="solid"/>
          </a:ln>
        </p:spPr>
        <p:txBody>
          <a:bodyPr lIns="0" tIns="0" rIns="0" bIns="0" anchor="t">
            <a:normAutofit/>
          </a:bodyPr>
          <a:lstStyle>
            <a:defPPr algn="l">
              <a:defRPr sz="2250" b="0">
                <a:solidFill>
                  <a:srgbClr val="D9E5F2"/>
                </a:solidFill>
                <a:latin typeface="Arial"/>
                <a:ea typeface="Arial"/>
                <a:cs typeface="Arial"/>
              </a:defRPr>
            </a:defPPr>
          </a:lstStyle>
          <a:p>
            <a:pPr algn="l">
              <a:defRPr sz="2250" b="0">
                <a:solidFill>
                  <a:srgbClr val="D9E5F2"/>
                </a:solidFill>
                <a:latin typeface="Arial"/>
                <a:ea typeface="Arial"/>
                <a:cs typeface="Arial"/>
              </a:defRPr>
            </a:pPr>
            <a:r>
              <a:rPr sz="2250" b="0">
                <a:solidFill>
                  <a:srgbClr val="D9E5F2"/>
                </a:solidFill>
                <a:latin typeface="Arial"/>
                <a:ea typeface="Arial"/>
                <a:cs typeface="Arial"/>
              </a:rPr>
              <a:t>From student planner to monitored cloud deployment</a:t>
            </a:r>
          </a:p>
        </p:txBody>
      </p:sp>
      <p:sp>
        <p:nvSpPr>
          <p:cNvPr id="5" name="Rectangle 4">
            <a:extLst>
              <a:ext uri="{FF2B5EF4-FFF2-40B4-BE49-F238E27FC236}">
                <a16:creationId xmlns:a16="http://schemas.microsoft.com/office/drawing/2014/main" id="{C9E33D94-F77A-4A7A-AF76-5E3297984D41}"/>
              </a:ext>
            </a:extLst>
          </p:cNvPr>
          <p:cNvSpPr>
            <a:spLocks noGrp="1"/>
          </p:cNvSpPr>
          <p:nvPr/>
        </p:nvSpPr>
        <p:spPr>
          <a:xfrm>
            <a:off x="742950" y="3495675"/>
            <a:ext cx="8763000" cy="323850"/>
          </a:xfrm>
          <a:prstGeom prst="rect">
            <a:avLst/>
          </a:prstGeom>
          <a:noFill/>
          <a:ln w="0">
            <a:noFill/>
            <a:prstDash val="solid"/>
          </a:ln>
        </p:spPr>
        <p:txBody>
          <a:bodyPr lIns="0" tIns="0" rIns="0" bIns="0" anchor="ctr">
            <a:normAutofit/>
          </a:bodyPr>
          <a:lstStyle>
            <a:defPPr algn="l">
              <a:defRPr sz="1425" b="1">
                <a:solidFill>
                  <a:srgbClr val="FFFFFF"/>
                </a:solidFill>
                <a:latin typeface="Arial"/>
                <a:ea typeface="Arial"/>
                <a:cs typeface="Arial"/>
              </a:defRPr>
            </a:defP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Application  /  Containers  /  CI/CD  /  Kubernetes  /  Observability</a:t>
            </a:r>
          </a:p>
        </p:txBody>
      </p:sp>
      <p:sp>
        <p:nvSpPr>
          <p:cNvPr id="6" name="Rectangle: Rounded Corners 5">
            <a:extLst>
              <a:ext uri="{FF2B5EF4-FFF2-40B4-BE49-F238E27FC236}">
                <a16:creationId xmlns:a16="http://schemas.microsoft.com/office/drawing/2014/main" id="{F9F7596A-A9D1-4DE7-89B1-CC4949EB8224}"/>
              </a:ext>
            </a:extLst>
          </p:cNvPr>
          <p:cNvSpPr>
            <a:spLocks noGrp="1"/>
          </p:cNvSpPr>
          <p:nvPr/>
        </p:nvSpPr>
        <p:spPr>
          <a:xfrm>
            <a:off x="742950" y="4572000"/>
            <a:ext cx="4572000" cy="857250"/>
          </a:xfrm>
          <a:prstGeom prst="roundRect">
            <a:avLst>
              <a:gd name="adj" fmla="val 8889"/>
            </a:avLst>
          </a:prstGeom>
          <a:solidFill>
            <a:srgbClr val="193653"/>
          </a:solidFill>
          <a:ln w="9525">
            <a:solidFill>
              <a:srgbClr val="33516D"/>
            </a:solidFill>
            <a:prstDash val="solid"/>
          </a:ln>
        </p:spPr>
      </p:sp>
      <p:sp>
        <p:nvSpPr>
          <p:cNvPr id="7" name="Rectangle 6">
            <a:extLst>
              <a:ext uri="{FF2B5EF4-FFF2-40B4-BE49-F238E27FC236}">
                <a16:creationId xmlns:a16="http://schemas.microsoft.com/office/drawing/2014/main" id="{51DA6769-72E2-47DE-8472-05DF6373F344}"/>
              </a:ext>
            </a:extLst>
          </p:cNvPr>
          <p:cNvSpPr>
            <a:spLocks noGrp="1"/>
          </p:cNvSpPr>
          <p:nvPr/>
        </p:nvSpPr>
        <p:spPr>
          <a:xfrm>
            <a:off x="933450" y="4714875"/>
            <a:ext cx="4191000" cy="571500"/>
          </a:xfrm>
          <a:prstGeom prst="rect">
            <a:avLst/>
          </a:prstGeom>
          <a:noFill/>
          <a:ln w="0">
            <a:noFill/>
            <a:prstDash val="solid"/>
          </a:ln>
        </p:spPr>
        <p:txBody>
          <a:bodyPr lIns="0" tIns="0" rIns="0" bIns="0" anchor="ctr">
            <a:normAutofit/>
          </a:bodyPr>
          <a:lstStyle>
            <a:defPPr algn="l">
              <a:defRPr sz="1275" b="0">
                <a:solidFill>
                  <a:srgbClr val="D9E5F2"/>
                </a:solidFill>
                <a:latin typeface="Arial"/>
                <a:ea typeface="Arial"/>
                <a:cs typeface="Arial"/>
              </a:defRPr>
            </a:defPPr>
          </a:lstStyle>
          <a:p>
            <a:pPr algn="l">
              <a:defRPr sz="1275" b="0">
                <a:solidFill>
                  <a:srgbClr val="D9E5F2"/>
                </a:solidFill>
                <a:latin typeface="Arial"/>
                <a:ea typeface="Arial"/>
                <a:cs typeface="Arial"/>
              </a:defRPr>
            </a:pPr>
            <a:r>
              <a:rPr sz="1275" b="0">
                <a:solidFill>
                  <a:srgbClr val="D9E5F2"/>
                </a:solidFill>
                <a:latin typeface="Arial"/>
                <a:ea typeface="Arial"/>
                <a:cs typeface="Arial"/>
              </a:rPr>
              <a:t>AWS demo completed in ap-southeast-2</a:t>
            </a:r>
          </a:p>
          <a:p>
            <a:pPr algn="l">
              <a:defRPr sz="1275" b="0">
                <a:solidFill>
                  <a:srgbClr val="D9E5F2"/>
                </a:solidFill>
                <a:latin typeface="Arial"/>
                <a:ea typeface="Arial"/>
                <a:cs typeface="Arial"/>
              </a:defRPr>
            </a:pPr>
            <a:r>
              <a:rPr sz="1275" b="0">
                <a:solidFill>
                  <a:srgbClr val="D9E5F2"/>
                </a:solidFill>
                <a:latin typeface="Arial"/>
                <a:ea typeface="Arial"/>
                <a:cs typeface="Arial"/>
              </a:rPr>
              <a:t>Resources destroyed after evidence capture</a:t>
            </a:r>
          </a:p>
        </p:txBody>
      </p:sp>
      <p:sp>
        <p:nvSpPr>
          <p:cNvPr id="8" name="Rectangle 7">
            <a:extLst>
              <a:ext uri="{FF2B5EF4-FFF2-40B4-BE49-F238E27FC236}">
                <a16:creationId xmlns:a16="http://schemas.microsoft.com/office/drawing/2014/main" id="{E377E163-FEBA-4EB3-BC92-7690728921CE}"/>
              </a:ext>
            </a:extLst>
          </p:cNvPr>
          <p:cNvSpPr>
            <a:spLocks noGrp="1"/>
          </p:cNvSpPr>
          <p:nvPr/>
        </p:nvSpPr>
        <p:spPr>
          <a:xfrm>
            <a:off x="731577" y="5303578"/>
            <a:ext cx="6195514" cy="1070210"/>
          </a:xfrm>
          <a:prstGeom prst="rect">
            <a:avLst/>
          </a:prstGeom>
          <a:noFill/>
          <a:ln w="0">
            <a:noFill/>
            <a:prstDash val="solid"/>
          </a:ln>
        </p:spPr>
        <p:txBody>
          <a:bodyPr lIns="0" tIns="0" rIns="0" bIns="0" anchor="ctr">
            <a:normAutofit/>
          </a:bodyPr>
          <a:lstStyle>
            <a:defPPr algn="l">
              <a:defRPr sz="1050" b="0">
                <a:solidFill>
                  <a:srgbClr val="AFC2D7"/>
                </a:solidFill>
                <a:latin typeface="Arial"/>
                <a:ea typeface="Arial"/>
                <a:cs typeface="Arial"/>
              </a:defRPr>
            </a:defPPr>
          </a:lstStyle>
          <a:p>
            <a:pPr algn="l">
              <a:defRPr sz="1050" b="0">
                <a:solidFill>
                  <a:srgbClr val="AFC2D7"/>
                </a:solidFill>
                <a:latin typeface="Arial"/>
                <a:ea typeface="Arial"/>
                <a:cs typeface="Arial"/>
              </a:defRPr>
            </a:pPr>
            <a:r>
              <a:rPr sz="2400" b="0">
                <a:solidFill>
                  <a:srgbClr val="AFC2D7"/>
                </a:solidFill>
                <a:latin typeface="Arial"/>
                <a:ea typeface="Arial"/>
                <a:cs typeface="Arial"/>
              </a:rPr>
              <a:t>Tanush Shoor  • </a:t>
            </a:r>
            <a:r>
              <a:rPr lang="en-US" sz="2400">
                <a:solidFill>
                  <a:srgbClr val="AFC2D7"/>
                </a:solidFill>
                <a:latin typeface="Arial"/>
                <a:ea typeface="Arial"/>
                <a:cs typeface="Arial"/>
              </a:rPr>
              <a:t>24BCS10265</a:t>
            </a:r>
            <a:endParaRPr sz="2400" b="0">
              <a:solidFill>
                <a:srgbClr val="AFC2D7"/>
              </a:solidFill>
              <a:latin typeface="Arial"/>
              <a:ea typeface="Arial"/>
              <a:cs typeface="Arial"/>
            </a:endParaRPr>
          </a:p>
        </p:txBody>
      </p:sp>
    </p:spTree>
    <p:extLst>
      <p:ext uri="{BB962C8B-B14F-4D97-AF65-F5344CB8AC3E}">
        <p14:creationId xmlns:p14="http://schemas.microsoft.com/office/powerpoint/2010/main" val="949275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6DD48556-7706-42D4-BA8B-7FDB275C812F}"/>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B6C6EA39-CF42-41BE-8C06-3A273D2CF6F2}"/>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PROJECT AT A GLANCE</a:t>
            </a:r>
          </a:p>
        </p:txBody>
      </p:sp>
      <p:sp>
        <p:nvSpPr>
          <p:cNvPr id="3" name="Rectangle 2">
            <a:extLst>
              <a:ext uri="{FF2B5EF4-FFF2-40B4-BE49-F238E27FC236}">
                <a16:creationId xmlns:a16="http://schemas.microsoft.com/office/drawing/2014/main" id="{1C0BCD3B-5310-4C76-9332-01AADD41EFA2}"/>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1C31EE75-2EBE-416B-AB1A-7401E6742832}"/>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75FDC52B-4BA4-482A-8CFF-57F05E68745B}"/>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One app, delivered through a complete DevOps workflow</a:t>
            </a:r>
          </a:p>
        </p:txBody>
      </p:sp>
      <p:sp>
        <p:nvSpPr>
          <p:cNvPr id="6" name="Rectangle 5">
            <a:extLst>
              <a:ext uri="{FF2B5EF4-FFF2-40B4-BE49-F238E27FC236}">
                <a16:creationId xmlns:a16="http://schemas.microsoft.com/office/drawing/2014/main" id="{E986C0BE-4BBE-4DBC-9859-B59042CEA336}"/>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capstone connects product behavior with repeatable delivery, deployment, and monitoring.</a:t>
            </a:r>
          </a:p>
        </p:txBody>
      </p:sp>
      <p:sp>
        <p:nvSpPr>
          <p:cNvPr id="7" name="Rectangle: Rounded Corners 6">
            <a:extLst>
              <a:ext uri="{FF2B5EF4-FFF2-40B4-BE49-F238E27FC236}">
                <a16:creationId xmlns:a16="http://schemas.microsoft.com/office/drawing/2014/main" id="{7D258482-CAEB-46F7-9EA9-C364A5BF0B2A}"/>
              </a:ext>
            </a:extLst>
          </p:cNvPr>
          <p:cNvSpPr>
            <a:spLocks noGrp="1"/>
          </p:cNvSpPr>
          <p:nvPr/>
        </p:nvSpPr>
        <p:spPr>
          <a:xfrm>
            <a:off x="609600" y="1619250"/>
            <a:ext cx="3333750" cy="1619250"/>
          </a:xfrm>
          <a:prstGeom prst="roundRect">
            <a:avLst>
              <a:gd name="adj" fmla="val 4706"/>
            </a:avLst>
          </a:prstGeom>
          <a:solidFill>
            <a:srgbClr val="FFFFFF"/>
          </a:solidFill>
          <a:ln w="9525">
            <a:solidFill>
              <a:srgbClr val="D7E0EA"/>
            </a:solidFill>
            <a:prstDash val="solid"/>
          </a:ln>
        </p:spPr>
      </p:sp>
      <p:sp>
        <p:nvSpPr>
          <p:cNvPr id="8" name="Rectangle 7">
            <a:extLst>
              <a:ext uri="{FF2B5EF4-FFF2-40B4-BE49-F238E27FC236}">
                <a16:creationId xmlns:a16="http://schemas.microsoft.com/office/drawing/2014/main" id="{11488406-387B-49D3-B2A6-202E1F207FFE}"/>
              </a:ext>
            </a:extLst>
          </p:cNvPr>
          <p:cNvSpPr>
            <a:spLocks noGrp="1"/>
          </p:cNvSpPr>
          <p:nvPr/>
        </p:nvSpPr>
        <p:spPr>
          <a:xfrm>
            <a:off x="609600" y="1619250"/>
            <a:ext cx="66675" cy="1619250"/>
          </a:xfrm>
          <a:prstGeom prst="rect">
            <a:avLst/>
          </a:prstGeom>
          <a:solidFill>
            <a:srgbClr val="1C5D99"/>
          </a:solidFill>
          <a:ln w="0">
            <a:noFill/>
            <a:prstDash val="solid"/>
          </a:ln>
        </p:spPr>
      </p:sp>
      <p:sp>
        <p:nvSpPr>
          <p:cNvPr id="9" name="Rectangle 8">
            <a:extLst>
              <a:ext uri="{FF2B5EF4-FFF2-40B4-BE49-F238E27FC236}">
                <a16:creationId xmlns:a16="http://schemas.microsoft.com/office/drawing/2014/main" id="{7317143D-3A8D-440C-92C5-6C11781E19D9}"/>
              </a:ext>
            </a:extLst>
          </p:cNvPr>
          <p:cNvSpPr>
            <a:spLocks noGrp="1"/>
          </p:cNvSpPr>
          <p:nvPr/>
        </p:nvSpPr>
        <p:spPr>
          <a:xfrm>
            <a:off x="819150" y="1781175"/>
            <a:ext cx="293370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1  Build the product</a:t>
            </a:r>
          </a:p>
        </p:txBody>
      </p:sp>
      <p:sp>
        <p:nvSpPr>
          <p:cNvPr id="10" name="Rectangle 9">
            <a:extLst>
              <a:ext uri="{FF2B5EF4-FFF2-40B4-BE49-F238E27FC236}">
                <a16:creationId xmlns:a16="http://schemas.microsoft.com/office/drawing/2014/main" id="{AE8B858D-46B3-4F90-9D7B-26219692195B}"/>
              </a:ext>
            </a:extLst>
          </p:cNvPr>
          <p:cNvSpPr>
            <a:spLocks noGrp="1"/>
          </p:cNvSpPr>
          <p:nvPr/>
        </p:nvSpPr>
        <p:spPr>
          <a:xfrm>
            <a:off x="819150" y="2124075"/>
            <a:ext cx="293370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React dashboard • FastAPI • PostgreSQL</a:t>
            </a:r>
          </a:p>
          <a:p>
            <a:pPr algn="l">
              <a:defRPr sz="1200" b="0">
                <a:solidFill>
                  <a:srgbClr val="526579"/>
                </a:solidFill>
                <a:latin typeface="Arial"/>
                <a:ea typeface="Arial"/>
                <a:cs typeface="Arial"/>
              </a:defRPr>
            </a:pPr>
            <a:r>
              <a:rPr sz="1200" b="0">
                <a:solidFill>
                  <a:srgbClr val="526579"/>
                </a:solidFill>
                <a:latin typeface="Arial"/>
                <a:ea typeface="Arial"/>
                <a:cs typeface="Arial"/>
              </a:rPr>
              <a:t>Alembic schema migration</a:t>
            </a:r>
          </a:p>
        </p:txBody>
      </p:sp>
      <p:sp>
        <p:nvSpPr>
          <p:cNvPr id="11" name="Rectangle: Rounded Corners 10">
            <a:extLst>
              <a:ext uri="{FF2B5EF4-FFF2-40B4-BE49-F238E27FC236}">
                <a16:creationId xmlns:a16="http://schemas.microsoft.com/office/drawing/2014/main" id="{6F2CD3FF-7841-4D30-A6B3-7DE2220FEB21}"/>
              </a:ext>
            </a:extLst>
          </p:cNvPr>
          <p:cNvSpPr>
            <a:spLocks noGrp="1"/>
          </p:cNvSpPr>
          <p:nvPr/>
        </p:nvSpPr>
        <p:spPr>
          <a:xfrm>
            <a:off x="4429125" y="1619250"/>
            <a:ext cx="3333750" cy="1619250"/>
          </a:xfrm>
          <a:prstGeom prst="roundRect">
            <a:avLst>
              <a:gd name="adj" fmla="val 4706"/>
            </a:avLst>
          </a:prstGeom>
          <a:solidFill>
            <a:srgbClr val="FFFFFF"/>
          </a:solidFill>
          <a:ln w="9525">
            <a:solidFill>
              <a:srgbClr val="D7E0EA"/>
            </a:solidFill>
            <a:prstDash val="solid"/>
          </a:ln>
        </p:spPr>
      </p:sp>
      <p:sp>
        <p:nvSpPr>
          <p:cNvPr id="12" name="Rectangle 11">
            <a:extLst>
              <a:ext uri="{FF2B5EF4-FFF2-40B4-BE49-F238E27FC236}">
                <a16:creationId xmlns:a16="http://schemas.microsoft.com/office/drawing/2014/main" id="{88411CE1-0332-4F3E-8C89-4135FAE3E2A8}"/>
              </a:ext>
            </a:extLst>
          </p:cNvPr>
          <p:cNvSpPr>
            <a:spLocks noGrp="1"/>
          </p:cNvSpPr>
          <p:nvPr/>
        </p:nvSpPr>
        <p:spPr>
          <a:xfrm>
            <a:off x="4429125" y="1619250"/>
            <a:ext cx="66675" cy="1619250"/>
          </a:xfrm>
          <a:prstGeom prst="rect">
            <a:avLst/>
          </a:prstGeom>
          <a:solidFill>
            <a:srgbClr val="2A9D8F"/>
          </a:solidFill>
          <a:ln w="0">
            <a:noFill/>
            <a:prstDash val="solid"/>
          </a:ln>
        </p:spPr>
      </p:sp>
      <p:sp>
        <p:nvSpPr>
          <p:cNvPr id="13" name="Rectangle 12">
            <a:extLst>
              <a:ext uri="{FF2B5EF4-FFF2-40B4-BE49-F238E27FC236}">
                <a16:creationId xmlns:a16="http://schemas.microsoft.com/office/drawing/2014/main" id="{668B7922-99FF-4926-8FDD-5599A8AC58E1}"/>
              </a:ext>
            </a:extLst>
          </p:cNvPr>
          <p:cNvSpPr>
            <a:spLocks noGrp="1"/>
          </p:cNvSpPr>
          <p:nvPr/>
        </p:nvSpPr>
        <p:spPr>
          <a:xfrm>
            <a:off x="4638675" y="1781175"/>
            <a:ext cx="293370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2  Prove and package</a:t>
            </a:r>
          </a:p>
        </p:txBody>
      </p:sp>
      <p:sp>
        <p:nvSpPr>
          <p:cNvPr id="14" name="Rectangle 13">
            <a:extLst>
              <a:ext uri="{FF2B5EF4-FFF2-40B4-BE49-F238E27FC236}">
                <a16:creationId xmlns:a16="http://schemas.microsoft.com/office/drawing/2014/main" id="{25B8285C-7149-4F15-9378-C4361F438E63}"/>
              </a:ext>
            </a:extLst>
          </p:cNvPr>
          <p:cNvSpPr>
            <a:spLocks noGrp="1"/>
          </p:cNvSpPr>
          <p:nvPr/>
        </p:nvSpPr>
        <p:spPr>
          <a:xfrm>
            <a:off x="4638675" y="2124075"/>
            <a:ext cx="293370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Six API tests pass • Docker Compose</a:t>
            </a:r>
          </a:p>
          <a:p>
            <a:pPr algn="l">
              <a:defRPr sz="1200" b="0">
                <a:solidFill>
                  <a:srgbClr val="526579"/>
                </a:solidFill>
                <a:latin typeface="Arial"/>
                <a:ea typeface="Arial"/>
                <a:cs typeface="Arial"/>
              </a:defRPr>
            </a:pPr>
            <a:r>
              <a:rPr sz="1200" b="0">
                <a:solidFill>
                  <a:srgbClr val="526579"/>
                </a:solidFill>
                <a:latin typeface="Arial"/>
                <a:ea typeface="Arial"/>
                <a:cs typeface="Arial"/>
              </a:rPr>
              <a:t>Non-root runtime containers</a:t>
            </a:r>
          </a:p>
        </p:txBody>
      </p:sp>
      <p:sp>
        <p:nvSpPr>
          <p:cNvPr id="15" name="Rectangle: Rounded Corners 14">
            <a:extLst>
              <a:ext uri="{FF2B5EF4-FFF2-40B4-BE49-F238E27FC236}">
                <a16:creationId xmlns:a16="http://schemas.microsoft.com/office/drawing/2014/main" id="{68CD4CD4-B475-4A6F-AD0D-80C52ECEA7E4}"/>
              </a:ext>
            </a:extLst>
          </p:cNvPr>
          <p:cNvSpPr>
            <a:spLocks noGrp="1"/>
          </p:cNvSpPr>
          <p:nvPr/>
        </p:nvSpPr>
        <p:spPr>
          <a:xfrm>
            <a:off x="8248650" y="1619250"/>
            <a:ext cx="3333750" cy="1619250"/>
          </a:xfrm>
          <a:prstGeom prst="roundRect">
            <a:avLst>
              <a:gd name="adj" fmla="val 4706"/>
            </a:avLst>
          </a:prstGeom>
          <a:solidFill>
            <a:srgbClr val="FFFFFF"/>
          </a:solidFill>
          <a:ln w="9525">
            <a:solidFill>
              <a:srgbClr val="D7E0EA"/>
            </a:solidFill>
            <a:prstDash val="solid"/>
          </a:ln>
        </p:spPr>
      </p:sp>
      <p:sp>
        <p:nvSpPr>
          <p:cNvPr id="16" name="Rectangle 15">
            <a:extLst>
              <a:ext uri="{FF2B5EF4-FFF2-40B4-BE49-F238E27FC236}">
                <a16:creationId xmlns:a16="http://schemas.microsoft.com/office/drawing/2014/main" id="{3B741CC7-1424-48B6-8E49-BCC2CBE51A49}"/>
              </a:ext>
            </a:extLst>
          </p:cNvPr>
          <p:cNvSpPr>
            <a:spLocks noGrp="1"/>
          </p:cNvSpPr>
          <p:nvPr/>
        </p:nvSpPr>
        <p:spPr>
          <a:xfrm>
            <a:off x="8248650" y="1619250"/>
            <a:ext cx="66675" cy="1619250"/>
          </a:xfrm>
          <a:prstGeom prst="rect">
            <a:avLst/>
          </a:prstGeom>
          <a:solidFill>
            <a:srgbClr val="F4B942"/>
          </a:solidFill>
          <a:ln w="0">
            <a:noFill/>
            <a:prstDash val="solid"/>
          </a:ln>
        </p:spPr>
      </p:sp>
      <p:sp>
        <p:nvSpPr>
          <p:cNvPr id="17" name="Rectangle 16">
            <a:extLst>
              <a:ext uri="{FF2B5EF4-FFF2-40B4-BE49-F238E27FC236}">
                <a16:creationId xmlns:a16="http://schemas.microsoft.com/office/drawing/2014/main" id="{325C6336-CB72-4595-978F-1F616471584A}"/>
              </a:ext>
            </a:extLst>
          </p:cNvPr>
          <p:cNvSpPr>
            <a:spLocks noGrp="1"/>
          </p:cNvSpPr>
          <p:nvPr/>
        </p:nvSpPr>
        <p:spPr>
          <a:xfrm>
            <a:off x="8458200" y="1781175"/>
            <a:ext cx="293370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3  Secure delivery</a:t>
            </a:r>
          </a:p>
        </p:txBody>
      </p:sp>
      <p:sp>
        <p:nvSpPr>
          <p:cNvPr id="18" name="Rectangle 17">
            <a:extLst>
              <a:ext uri="{FF2B5EF4-FFF2-40B4-BE49-F238E27FC236}">
                <a16:creationId xmlns:a16="http://schemas.microsoft.com/office/drawing/2014/main" id="{1D10F457-ABAE-452B-A7E7-578525957103}"/>
              </a:ext>
            </a:extLst>
          </p:cNvPr>
          <p:cNvSpPr>
            <a:spLocks noGrp="1"/>
          </p:cNvSpPr>
          <p:nvPr/>
        </p:nvSpPr>
        <p:spPr>
          <a:xfrm>
            <a:off x="8458200" y="2124075"/>
            <a:ext cx="293370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GitHub Actions • Trivy scans</a:t>
            </a:r>
          </a:p>
          <a:p>
            <a:pPr algn="l">
              <a:defRPr sz="1200" b="0">
                <a:solidFill>
                  <a:srgbClr val="526579"/>
                </a:solidFill>
                <a:latin typeface="Arial"/>
                <a:ea typeface="Arial"/>
                <a:cs typeface="Arial"/>
              </a:defRPr>
            </a:pPr>
            <a:r>
              <a:rPr sz="1200" b="0">
                <a:solidFill>
                  <a:srgbClr val="526579"/>
                </a:solidFill>
                <a:latin typeface="Arial"/>
                <a:ea typeface="Arial"/>
                <a:cs typeface="Arial"/>
              </a:rPr>
              <a:t>SHA-tagged GHCR images</a:t>
            </a:r>
          </a:p>
        </p:txBody>
      </p:sp>
      <p:sp>
        <p:nvSpPr>
          <p:cNvPr id="19" name="Rectangle: Rounded Corners 18">
            <a:extLst>
              <a:ext uri="{FF2B5EF4-FFF2-40B4-BE49-F238E27FC236}">
                <a16:creationId xmlns:a16="http://schemas.microsoft.com/office/drawing/2014/main" id="{2AC439CB-4D79-4B73-974B-76ACA46C3562}"/>
              </a:ext>
            </a:extLst>
          </p:cNvPr>
          <p:cNvSpPr>
            <a:spLocks noGrp="1"/>
          </p:cNvSpPr>
          <p:nvPr/>
        </p:nvSpPr>
        <p:spPr>
          <a:xfrm>
            <a:off x="609600" y="3619500"/>
            <a:ext cx="3333750" cy="1619250"/>
          </a:xfrm>
          <a:prstGeom prst="roundRect">
            <a:avLst>
              <a:gd name="adj" fmla="val 4706"/>
            </a:avLst>
          </a:prstGeom>
          <a:solidFill>
            <a:srgbClr val="FFFFFF"/>
          </a:solidFill>
          <a:ln w="9525">
            <a:solidFill>
              <a:srgbClr val="D7E0EA"/>
            </a:solidFill>
            <a:prstDash val="solid"/>
          </a:ln>
        </p:spPr>
      </p:sp>
      <p:sp>
        <p:nvSpPr>
          <p:cNvPr id="20" name="Rectangle 19">
            <a:extLst>
              <a:ext uri="{FF2B5EF4-FFF2-40B4-BE49-F238E27FC236}">
                <a16:creationId xmlns:a16="http://schemas.microsoft.com/office/drawing/2014/main" id="{C2628DE6-0823-413A-9A9A-54194D585468}"/>
              </a:ext>
            </a:extLst>
          </p:cNvPr>
          <p:cNvSpPr>
            <a:spLocks noGrp="1"/>
          </p:cNvSpPr>
          <p:nvPr/>
        </p:nvSpPr>
        <p:spPr>
          <a:xfrm>
            <a:off x="609600" y="3619500"/>
            <a:ext cx="66675" cy="1619250"/>
          </a:xfrm>
          <a:prstGeom prst="rect">
            <a:avLst/>
          </a:prstGeom>
          <a:solidFill>
            <a:srgbClr val="2A9D8F"/>
          </a:solidFill>
          <a:ln w="0">
            <a:noFill/>
            <a:prstDash val="solid"/>
          </a:ln>
        </p:spPr>
      </p:sp>
      <p:sp>
        <p:nvSpPr>
          <p:cNvPr id="21" name="Rectangle 20">
            <a:extLst>
              <a:ext uri="{FF2B5EF4-FFF2-40B4-BE49-F238E27FC236}">
                <a16:creationId xmlns:a16="http://schemas.microsoft.com/office/drawing/2014/main" id="{FAECF610-F5AF-4502-ACDC-71D3B28BA8F7}"/>
              </a:ext>
            </a:extLst>
          </p:cNvPr>
          <p:cNvSpPr>
            <a:spLocks noGrp="1"/>
          </p:cNvSpPr>
          <p:nvPr/>
        </p:nvSpPr>
        <p:spPr>
          <a:xfrm>
            <a:off x="819150" y="3781425"/>
            <a:ext cx="293370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4  Deploy</a:t>
            </a:r>
          </a:p>
        </p:txBody>
      </p:sp>
      <p:sp>
        <p:nvSpPr>
          <p:cNvPr id="22" name="Rectangle 21">
            <a:extLst>
              <a:ext uri="{FF2B5EF4-FFF2-40B4-BE49-F238E27FC236}">
                <a16:creationId xmlns:a16="http://schemas.microsoft.com/office/drawing/2014/main" id="{AF51B2FA-99E7-4646-9D7B-F82F66255970}"/>
              </a:ext>
            </a:extLst>
          </p:cNvPr>
          <p:cNvSpPr>
            <a:spLocks noGrp="1"/>
          </p:cNvSpPr>
          <p:nvPr/>
        </p:nvSpPr>
        <p:spPr>
          <a:xfrm>
            <a:off x="819150" y="4124325"/>
            <a:ext cx="293370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Terraform VPC and EKS</a:t>
            </a:r>
          </a:p>
          <a:p>
            <a:pPr algn="l">
              <a:defRPr sz="1200" b="0">
                <a:solidFill>
                  <a:srgbClr val="526579"/>
                </a:solidFill>
                <a:latin typeface="Arial"/>
                <a:ea typeface="Arial"/>
                <a:cs typeface="Arial"/>
              </a:defRPr>
            </a:pPr>
            <a:r>
              <a:rPr sz="1200" b="0">
                <a:solidFill>
                  <a:srgbClr val="526579"/>
                </a:solidFill>
                <a:latin typeface="Arial"/>
                <a:ea typeface="Arial"/>
                <a:cs typeface="Arial"/>
              </a:rPr>
              <a:t>Helm chart • Kubernetes Ingress</a:t>
            </a:r>
          </a:p>
        </p:txBody>
      </p:sp>
      <p:sp>
        <p:nvSpPr>
          <p:cNvPr id="23" name="Rectangle: Rounded Corners 22">
            <a:extLst>
              <a:ext uri="{FF2B5EF4-FFF2-40B4-BE49-F238E27FC236}">
                <a16:creationId xmlns:a16="http://schemas.microsoft.com/office/drawing/2014/main" id="{F685399B-F87E-4A29-8D5E-97CF1B8FD04B}"/>
              </a:ext>
            </a:extLst>
          </p:cNvPr>
          <p:cNvSpPr>
            <a:spLocks noGrp="1"/>
          </p:cNvSpPr>
          <p:nvPr/>
        </p:nvSpPr>
        <p:spPr>
          <a:xfrm>
            <a:off x="4429125" y="3619500"/>
            <a:ext cx="3333750" cy="1619250"/>
          </a:xfrm>
          <a:prstGeom prst="roundRect">
            <a:avLst>
              <a:gd name="adj" fmla="val 4706"/>
            </a:avLst>
          </a:prstGeom>
          <a:solidFill>
            <a:srgbClr val="FFFFFF"/>
          </a:solidFill>
          <a:ln w="9525">
            <a:solidFill>
              <a:srgbClr val="D7E0EA"/>
            </a:solidFill>
            <a:prstDash val="solid"/>
          </a:ln>
        </p:spPr>
      </p:sp>
      <p:sp>
        <p:nvSpPr>
          <p:cNvPr id="24" name="Rectangle 23">
            <a:extLst>
              <a:ext uri="{FF2B5EF4-FFF2-40B4-BE49-F238E27FC236}">
                <a16:creationId xmlns:a16="http://schemas.microsoft.com/office/drawing/2014/main" id="{AF65286F-95EE-4A0C-B3AB-A4AAF8EFA038}"/>
              </a:ext>
            </a:extLst>
          </p:cNvPr>
          <p:cNvSpPr>
            <a:spLocks noGrp="1"/>
          </p:cNvSpPr>
          <p:nvPr/>
        </p:nvSpPr>
        <p:spPr>
          <a:xfrm>
            <a:off x="4429125" y="3619500"/>
            <a:ext cx="66675" cy="1619250"/>
          </a:xfrm>
          <a:prstGeom prst="rect">
            <a:avLst/>
          </a:prstGeom>
          <a:solidFill>
            <a:srgbClr val="1C5D99"/>
          </a:solidFill>
          <a:ln w="0">
            <a:noFill/>
            <a:prstDash val="solid"/>
          </a:ln>
        </p:spPr>
      </p:sp>
      <p:sp>
        <p:nvSpPr>
          <p:cNvPr id="25" name="Rectangle 24">
            <a:extLst>
              <a:ext uri="{FF2B5EF4-FFF2-40B4-BE49-F238E27FC236}">
                <a16:creationId xmlns:a16="http://schemas.microsoft.com/office/drawing/2014/main" id="{E38205AA-1F86-4030-BE0B-89D681C1962F}"/>
              </a:ext>
            </a:extLst>
          </p:cNvPr>
          <p:cNvSpPr>
            <a:spLocks noGrp="1"/>
          </p:cNvSpPr>
          <p:nvPr/>
        </p:nvSpPr>
        <p:spPr>
          <a:xfrm>
            <a:off x="4638675" y="3781425"/>
            <a:ext cx="293370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5  Observe</a:t>
            </a:r>
          </a:p>
        </p:txBody>
      </p:sp>
      <p:sp>
        <p:nvSpPr>
          <p:cNvPr id="26" name="Rectangle 25">
            <a:extLst>
              <a:ext uri="{FF2B5EF4-FFF2-40B4-BE49-F238E27FC236}">
                <a16:creationId xmlns:a16="http://schemas.microsoft.com/office/drawing/2014/main" id="{FAC2451E-5807-424F-905B-C1ED1D4C234C}"/>
              </a:ext>
            </a:extLst>
          </p:cNvPr>
          <p:cNvSpPr>
            <a:spLocks noGrp="1"/>
          </p:cNvSpPr>
          <p:nvPr/>
        </p:nvSpPr>
        <p:spPr>
          <a:xfrm>
            <a:off x="4638675" y="4124325"/>
            <a:ext cx="293370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Prometheus scrape targets UP</a:t>
            </a:r>
          </a:p>
          <a:p>
            <a:pPr algn="l">
              <a:defRPr sz="1200" b="0">
                <a:solidFill>
                  <a:srgbClr val="526579"/>
                </a:solidFill>
                <a:latin typeface="Arial"/>
                <a:ea typeface="Arial"/>
                <a:cs typeface="Arial"/>
              </a:defRPr>
            </a:pPr>
            <a:r>
              <a:rPr sz="1200" b="0">
                <a:solidFill>
                  <a:srgbClr val="526579"/>
                </a:solidFill>
                <a:latin typeface="Arial"/>
                <a:ea typeface="Arial"/>
                <a:cs typeface="Arial"/>
              </a:rPr>
              <a:t>Grafana API dashboard</a:t>
            </a:r>
          </a:p>
        </p:txBody>
      </p:sp>
      <p:sp>
        <p:nvSpPr>
          <p:cNvPr id="27" name="Rectangle: Rounded Corners 26">
            <a:extLst>
              <a:ext uri="{FF2B5EF4-FFF2-40B4-BE49-F238E27FC236}">
                <a16:creationId xmlns:a16="http://schemas.microsoft.com/office/drawing/2014/main" id="{6C9003F8-9D91-4A56-8B1B-EC6ADF47C536}"/>
              </a:ext>
            </a:extLst>
          </p:cNvPr>
          <p:cNvSpPr>
            <a:spLocks noGrp="1"/>
          </p:cNvSpPr>
          <p:nvPr/>
        </p:nvSpPr>
        <p:spPr>
          <a:xfrm>
            <a:off x="8248650" y="3619500"/>
            <a:ext cx="3333750" cy="1619250"/>
          </a:xfrm>
          <a:prstGeom prst="roundRect">
            <a:avLst>
              <a:gd name="adj" fmla="val 4706"/>
            </a:avLst>
          </a:prstGeom>
          <a:solidFill>
            <a:srgbClr val="FFFFFF"/>
          </a:solidFill>
          <a:ln w="9525">
            <a:solidFill>
              <a:srgbClr val="D7E0EA"/>
            </a:solidFill>
            <a:prstDash val="solid"/>
          </a:ln>
        </p:spPr>
      </p:sp>
      <p:sp>
        <p:nvSpPr>
          <p:cNvPr id="28" name="Rectangle 27">
            <a:extLst>
              <a:ext uri="{FF2B5EF4-FFF2-40B4-BE49-F238E27FC236}">
                <a16:creationId xmlns:a16="http://schemas.microsoft.com/office/drawing/2014/main" id="{FE81B739-49B9-4468-B744-E5DBBA2D47CC}"/>
              </a:ext>
            </a:extLst>
          </p:cNvPr>
          <p:cNvSpPr>
            <a:spLocks noGrp="1"/>
          </p:cNvSpPr>
          <p:nvPr/>
        </p:nvSpPr>
        <p:spPr>
          <a:xfrm>
            <a:off x="8248650" y="3619500"/>
            <a:ext cx="66675" cy="1619250"/>
          </a:xfrm>
          <a:prstGeom prst="rect">
            <a:avLst/>
          </a:prstGeom>
          <a:solidFill>
            <a:srgbClr val="F4B942"/>
          </a:solidFill>
          <a:ln w="0">
            <a:noFill/>
            <a:prstDash val="solid"/>
          </a:ln>
        </p:spPr>
      </p:sp>
      <p:sp>
        <p:nvSpPr>
          <p:cNvPr id="29" name="Rectangle 28">
            <a:extLst>
              <a:ext uri="{FF2B5EF4-FFF2-40B4-BE49-F238E27FC236}">
                <a16:creationId xmlns:a16="http://schemas.microsoft.com/office/drawing/2014/main" id="{1337B056-9D39-437C-AEAA-9DE10C6970AF}"/>
              </a:ext>
            </a:extLst>
          </p:cNvPr>
          <p:cNvSpPr>
            <a:spLocks noGrp="1"/>
          </p:cNvSpPr>
          <p:nvPr/>
        </p:nvSpPr>
        <p:spPr>
          <a:xfrm>
            <a:off x="8458200" y="3781425"/>
            <a:ext cx="293370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6  Clean up</a:t>
            </a:r>
          </a:p>
        </p:txBody>
      </p:sp>
      <p:sp>
        <p:nvSpPr>
          <p:cNvPr id="30" name="Rectangle 29">
            <a:extLst>
              <a:ext uri="{FF2B5EF4-FFF2-40B4-BE49-F238E27FC236}">
                <a16:creationId xmlns:a16="http://schemas.microsoft.com/office/drawing/2014/main" id="{858BFB7C-7F26-49B8-96FE-2BE379B6DA04}"/>
              </a:ext>
            </a:extLst>
          </p:cNvPr>
          <p:cNvSpPr>
            <a:spLocks noGrp="1"/>
          </p:cNvSpPr>
          <p:nvPr/>
        </p:nvSpPr>
        <p:spPr>
          <a:xfrm>
            <a:off x="8458200" y="4124325"/>
            <a:ext cx="293370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58 Terraform resources destroyed</a:t>
            </a:r>
          </a:p>
          <a:p>
            <a:pPr algn="l">
              <a:defRPr sz="1200" b="0">
                <a:solidFill>
                  <a:srgbClr val="526579"/>
                </a:solidFill>
                <a:latin typeface="Arial"/>
                <a:ea typeface="Arial"/>
                <a:cs typeface="Arial"/>
              </a:defRPr>
            </a:pPr>
            <a:r>
              <a:rPr sz="1200" b="0">
                <a:solidFill>
                  <a:srgbClr val="526579"/>
                </a:solidFill>
                <a:latin typeface="Arial"/>
                <a:ea typeface="Arial"/>
                <a:cs typeface="Arial"/>
              </a:rPr>
              <a:t>AWS cluster confirmed absent</a:t>
            </a:r>
          </a:p>
        </p:txBody>
      </p:sp>
    </p:spTree>
    <p:extLst>
      <p:ext uri="{BB962C8B-B14F-4D97-AF65-F5344CB8AC3E}">
        <p14:creationId xmlns:p14="http://schemas.microsoft.com/office/powerpoint/2010/main" val="443518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6DFA239D-2B8E-4CEF-895B-27475BCC15B0}"/>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0F417D1B-2839-4D95-BFFD-E7285B03DAE1}"/>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APPLICATION ARCHITECTURE</a:t>
            </a:r>
          </a:p>
        </p:txBody>
      </p:sp>
      <p:sp>
        <p:nvSpPr>
          <p:cNvPr id="3" name="Rectangle 2">
            <a:extLst>
              <a:ext uri="{FF2B5EF4-FFF2-40B4-BE49-F238E27FC236}">
                <a16:creationId xmlns:a16="http://schemas.microsoft.com/office/drawing/2014/main" id="{B4146D41-D96F-46E9-9F8D-CB3C3013E8E1}"/>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CA8AF69C-3B5B-4C94-AC4B-054BC1A15BD4}"/>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CC7D4C90-D7D7-4094-8572-7ADA481B694F}"/>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A small full-stack app with clear service boundaries</a:t>
            </a:r>
          </a:p>
        </p:txBody>
      </p:sp>
      <p:sp>
        <p:nvSpPr>
          <p:cNvPr id="6" name="Rectangle 5">
            <a:extLst>
              <a:ext uri="{FF2B5EF4-FFF2-40B4-BE49-F238E27FC236}">
                <a16:creationId xmlns:a16="http://schemas.microsoft.com/office/drawing/2014/main" id="{C29CF0CE-BF7D-4003-B3AB-D6301F936B70}"/>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same frontend and API run locally in Compose and as services in Kubernetes.</a:t>
            </a:r>
          </a:p>
        </p:txBody>
      </p:sp>
      <p:sp>
        <p:nvSpPr>
          <p:cNvPr id="7" name="Rectangle: Rounded Corners 6">
            <a:extLst>
              <a:ext uri="{FF2B5EF4-FFF2-40B4-BE49-F238E27FC236}">
                <a16:creationId xmlns:a16="http://schemas.microsoft.com/office/drawing/2014/main" id="{C9CE29AA-7FFD-4CEA-9EF4-8CB65D88E071}"/>
              </a:ext>
            </a:extLst>
          </p:cNvPr>
          <p:cNvSpPr>
            <a:spLocks noGrp="1"/>
          </p:cNvSpPr>
          <p:nvPr/>
        </p:nvSpPr>
        <p:spPr>
          <a:xfrm>
            <a:off x="704850" y="1952625"/>
            <a:ext cx="2095500" cy="1095375"/>
          </a:xfrm>
          <a:prstGeom prst="roundRect">
            <a:avLst>
              <a:gd name="adj" fmla="val 6957"/>
            </a:avLst>
          </a:prstGeom>
          <a:solidFill>
            <a:srgbClr val="FFFFFF"/>
          </a:solidFill>
          <a:ln w="9525">
            <a:solidFill>
              <a:srgbClr val="D7E0EA"/>
            </a:solidFill>
            <a:prstDash val="solid"/>
          </a:ln>
        </p:spPr>
      </p:sp>
      <p:sp>
        <p:nvSpPr>
          <p:cNvPr id="8" name="Rectangle 7">
            <a:extLst>
              <a:ext uri="{FF2B5EF4-FFF2-40B4-BE49-F238E27FC236}">
                <a16:creationId xmlns:a16="http://schemas.microsoft.com/office/drawing/2014/main" id="{C33FD36D-9894-4FFB-B55B-6B3ABDF05053}"/>
              </a:ext>
            </a:extLst>
          </p:cNvPr>
          <p:cNvSpPr>
            <a:spLocks noGrp="1"/>
          </p:cNvSpPr>
          <p:nvPr/>
        </p:nvSpPr>
        <p:spPr>
          <a:xfrm>
            <a:off x="704850" y="1952625"/>
            <a:ext cx="2095500" cy="76200"/>
          </a:xfrm>
          <a:prstGeom prst="rect">
            <a:avLst/>
          </a:prstGeom>
          <a:solidFill>
            <a:srgbClr val="1C5D99"/>
          </a:solidFill>
          <a:ln w="0">
            <a:noFill/>
            <a:prstDash val="solid"/>
          </a:ln>
        </p:spPr>
      </p:sp>
      <p:sp>
        <p:nvSpPr>
          <p:cNvPr id="9" name="Rectangle 8">
            <a:extLst>
              <a:ext uri="{FF2B5EF4-FFF2-40B4-BE49-F238E27FC236}">
                <a16:creationId xmlns:a16="http://schemas.microsoft.com/office/drawing/2014/main" id="{C106E72E-A7D9-4BCA-BFDF-C92F2F4DCB34}"/>
              </a:ext>
            </a:extLst>
          </p:cNvPr>
          <p:cNvSpPr>
            <a:spLocks noGrp="1"/>
          </p:cNvSpPr>
          <p:nvPr/>
        </p:nvSpPr>
        <p:spPr>
          <a:xfrm>
            <a:off x="838200" y="2152650"/>
            <a:ext cx="1828800" cy="295275"/>
          </a:xfrm>
          <a:prstGeom prst="rect">
            <a:avLst/>
          </a:prstGeom>
          <a:noFill/>
          <a:ln w="0">
            <a:noFill/>
            <a:prstDash val="solid"/>
          </a:ln>
        </p:spPr>
        <p:txBody>
          <a:bodyPr lIns="0" tIns="0" rIns="0" bIns="0" anchor="ctr">
            <a:normAutofit/>
          </a:bodyPr>
          <a:lstStyle>
            <a:defPPr algn="ctr">
              <a:defRPr sz="1425" b="1">
                <a:solidFill>
                  <a:srgbClr val="10233F"/>
                </a:solidFill>
                <a:latin typeface="Arial"/>
                <a:ea typeface="Arial"/>
                <a:cs typeface="Arial"/>
              </a:defRPr>
            </a:defPPr>
          </a:lstStyle>
          <a:p>
            <a:pPr algn="ctr">
              <a:defRPr sz="1425" b="1">
                <a:solidFill>
                  <a:srgbClr val="10233F"/>
                </a:solidFill>
                <a:latin typeface="Arial"/>
                <a:ea typeface="Arial"/>
                <a:cs typeface="Arial"/>
              </a:defRPr>
            </a:pPr>
            <a:r>
              <a:rPr sz="1425" b="1">
                <a:solidFill>
                  <a:srgbClr val="10233F"/>
                </a:solidFill>
                <a:latin typeface="Arial"/>
                <a:ea typeface="Arial"/>
                <a:cs typeface="Arial"/>
              </a:rPr>
              <a:t>Student browser</a:t>
            </a:r>
          </a:p>
        </p:txBody>
      </p:sp>
      <p:sp>
        <p:nvSpPr>
          <p:cNvPr id="10" name="Rectangle 9">
            <a:extLst>
              <a:ext uri="{FF2B5EF4-FFF2-40B4-BE49-F238E27FC236}">
                <a16:creationId xmlns:a16="http://schemas.microsoft.com/office/drawing/2014/main" id="{4E08334D-61C1-43BA-BD7F-7B8923515D6D}"/>
              </a:ext>
            </a:extLst>
          </p:cNvPr>
          <p:cNvSpPr>
            <a:spLocks noGrp="1"/>
          </p:cNvSpPr>
          <p:nvPr/>
        </p:nvSpPr>
        <p:spPr>
          <a:xfrm>
            <a:off x="838200" y="2495550"/>
            <a:ext cx="1828800" cy="409575"/>
          </a:xfrm>
          <a:prstGeom prst="rect">
            <a:avLst/>
          </a:prstGeom>
          <a:noFill/>
          <a:ln w="0">
            <a:noFill/>
            <a:prstDash val="solid"/>
          </a:ln>
        </p:spPr>
        <p:txBody>
          <a:bodyPr lIns="0" tIns="0" rIns="0" bIns="0" anchor="ctr">
            <a:normAutofit/>
          </a:bodyPr>
          <a:lstStyle>
            <a:defPPr algn="ctr">
              <a:defRPr sz="1125" b="0">
                <a:solidFill>
                  <a:srgbClr val="526579"/>
                </a:solidFill>
                <a:latin typeface="Arial"/>
                <a:ea typeface="Arial"/>
                <a:cs typeface="Arial"/>
              </a:defRPr>
            </a:defPPr>
          </a:lstStyle>
          <a:p>
            <a:pPr algn="ctr">
              <a:defRPr sz="1125" b="0">
                <a:solidFill>
                  <a:srgbClr val="526579"/>
                </a:solidFill>
                <a:latin typeface="Arial"/>
                <a:ea typeface="Arial"/>
                <a:cs typeface="Arial"/>
              </a:defRPr>
            </a:pPr>
            <a:r>
              <a:rPr sz="1125" b="0">
                <a:solidFill>
                  <a:srgbClr val="526579"/>
                </a:solidFill>
                <a:latin typeface="Arial"/>
                <a:ea typeface="Arial"/>
                <a:cs typeface="Arial"/>
              </a:rPr>
              <a:t>localhost:3000</a:t>
            </a:r>
          </a:p>
          <a:p>
            <a:pPr algn="ctr">
              <a:defRPr sz="1125" b="0">
                <a:solidFill>
                  <a:srgbClr val="526579"/>
                </a:solidFill>
                <a:latin typeface="Arial"/>
                <a:ea typeface="Arial"/>
                <a:cs typeface="Arial"/>
              </a:defRPr>
            </a:pPr>
            <a:r>
              <a:rPr sz="1125" b="0">
                <a:solidFill>
                  <a:srgbClr val="526579"/>
                </a:solidFill>
                <a:latin typeface="Arial"/>
                <a:ea typeface="Arial"/>
                <a:cs typeface="Arial"/>
              </a:rPr>
              <a:t>or cloud Ingress</a:t>
            </a:r>
          </a:p>
        </p:txBody>
      </p:sp>
      <p:sp>
        <p:nvSpPr>
          <p:cNvPr id="11" name="Rectangle: Rounded Corners 10">
            <a:extLst>
              <a:ext uri="{FF2B5EF4-FFF2-40B4-BE49-F238E27FC236}">
                <a16:creationId xmlns:a16="http://schemas.microsoft.com/office/drawing/2014/main" id="{181CCD33-A87F-4969-ABA8-6456080CECAE}"/>
              </a:ext>
            </a:extLst>
          </p:cNvPr>
          <p:cNvSpPr>
            <a:spLocks noGrp="1"/>
          </p:cNvSpPr>
          <p:nvPr/>
        </p:nvSpPr>
        <p:spPr>
          <a:xfrm>
            <a:off x="3562350" y="1952625"/>
            <a:ext cx="2238375" cy="1095375"/>
          </a:xfrm>
          <a:prstGeom prst="roundRect">
            <a:avLst>
              <a:gd name="adj" fmla="val 6957"/>
            </a:avLst>
          </a:prstGeom>
          <a:solidFill>
            <a:srgbClr val="FFFFFF"/>
          </a:solidFill>
          <a:ln w="9525">
            <a:solidFill>
              <a:srgbClr val="D7E0EA"/>
            </a:solidFill>
            <a:prstDash val="solid"/>
          </a:ln>
        </p:spPr>
      </p:sp>
      <p:sp>
        <p:nvSpPr>
          <p:cNvPr id="12" name="Rectangle 11">
            <a:extLst>
              <a:ext uri="{FF2B5EF4-FFF2-40B4-BE49-F238E27FC236}">
                <a16:creationId xmlns:a16="http://schemas.microsoft.com/office/drawing/2014/main" id="{5CB92888-1DEC-42C8-8061-A0E24A80CFFF}"/>
              </a:ext>
            </a:extLst>
          </p:cNvPr>
          <p:cNvSpPr>
            <a:spLocks noGrp="1"/>
          </p:cNvSpPr>
          <p:nvPr/>
        </p:nvSpPr>
        <p:spPr>
          <a:xfrm>
            <a:off x="3562350" y="1952625"/>
            <a:ext cx="2238375" cy="76200"/>
          </a:xfrm>
          <a:prstGeom prst="rect">
            <a:avLst/>
          </a:prstGeom>
          <a:solidFill>
            <a:srgbClr val="2A9D8F"/>
          </a:solidFill>
          <a:ln w="0">
            <a:noFill/>
            <a:prstDash val="solid"/>
          </a:ln>
        </p:spPr>
      </p:sp>
      <p:sp>
        <p:nvSpPr>
          <p:cNvPr id="13" name="Rectangle 12">
            <a:extLst>
              <a:ext uri="{FF2B5EF4-FFF2-40B4-BE49-F238E27FC236}">
                <a16:creationId xmlns:a16="http://schemas.microsoft.com/office/drawing/2014/main" id="{CE97EDD6-B589-414D-A253-329ED5C52E91}"/>
              </a:ext>
            </a:extLst>
          </p:cNvPr>
          <p:cNvSpPr>
            <a:spLocks noGrp="1"/>
          </p:cNvSpPr>
          <p:nvPr/>
        </p:nvSpPr>
        <p:spPr>
          <a:xfrm>
            <a:off x="3695700" y="2152650"/>
            <a:ext cx="1971675" cy="295275"/>
          </a:xfrm>
          <a:prstGeom prst="rect">
            <a:avLst/>
          </a:prstGeom>
          <a:noFill/>
          <a:ln w="0">
            <a:noFill/>
            <a:prstDash val="solid"/>
          </a:ln>
        </p:spPr>
        <p:txBody>
          <a:bodyPr lIns="0" tIns="0" rIns="0" bIns="0" anchor="ctr">
            <a:normAutofit/>
          </a:bodyPr>
          <a:lstStyle>
            <a:defPPr algn="ctr">
              <a:defRPr sz="1425" b="1">
                <a:solidFill>
                  <a:srgbClr val="10233F"/>
                </a:solidFill>
                <a:latin typeface="Arial"/>
                <a:ea typeface="Arial"/>
                <a:cs typeface="Arial"/>
              </a:defRPr>
            </a:defPPr>
          </a:lstStyle>
          <a:p>
            <a:pPr algn="ctr">
              <a:defRPr sz="1425" b="1">
                <a:solidFill>
                  <a:srgbClr val="10233F"/>
                </a:solidFill>
                <a:latin typeface="Arial"/>
                <a:ea typeface="Arial"/>
                <a:cs typeface="Arial"/>
              </a:defRPr>
            </a:pPr>
            <a:r>
              <a:rPr sz="1425" b="1">
                <a:solidFill>
                  <a:srgbClr val="10233F"/>
                </a:solidFill>
                <a:latin typeface="Arial"/>
                <a:ea typeface="Arial"/>
                <a:cs typeface="Arial"/>
              </a:rPr>
              <a:t>React + Vite</a:t>
            </a:r>
          </a:p>
        </p:txBody>
      </p:sp>
      <p:sp>
        <p:nvSpPr>
          <p:cNvPr id="14" name="Rectangle 13">
            <a:extLst>
              <a:ext uri="{FF2B5EF4-FFF2-40B4-BE49-F238E27FC236}">
                <a16:creationId xmlns:a16="http://schemas.microsoft.com/office/drawing/2014/main" id="{AD7B27BA-C627-4606-9904-F14C83946C62}"/>
              </a:ext>
            </a:extLst>
          </p:cNvPr>
          <p:cNvSpPr>
            <a:spLocks noGrp="1"/>
          </p:cNvSpPr>
          <p:nvPr/>
        </p:nvSpPr>
        <p:spPr>
          <a:xfrm>
            <a:off x="3695700" y="2495550"/>
            <a:ext cx="1971675" cy="409575"/>
          </a:xfrm>
          <a:prstGeom prst="rect">
            <a:avLst/>
          </a:prstGeom>
          <a:noFill/>
          <a:ln w="0">
            <a:noFill/>
            <a:prstDash val="solid"/>
          </a:ln>
        </p:spPr>
        <p:txBody>
          <a:bodyPr lIns="0" tIns="0" rIns="0" bIns="0" anchor="ctr">
            <a:normAutofit/>
          </a:bodyPr>
          <a:lstStyle>
            <a:defPPr algn="ctr">
              <a:defRPr sz="1125" b="0">
                <a:solidFill>
                  <a:srgbClr val="526579"/>
                </a:solidFill>
                <a:latin typeface="Arial"/>
                <a:ea typeface="Arial"/>
                <a:cs typeface="Arial"/>
              </a:defRPr>
            </a:defPPr>
          </a:lstStyle>
          <a:p>
            <a:pPr algn="ctr">
              <a:defRPr sz="1125" b="0">
                <a:solidFill>
                  <a:srgbClr val="526579"/>
                </a:solidFill>
                <a:latin typeface="Arial"/>
                <a:ea typeface="Arial"/>
                <a:cs typeface="Arial"/>
              </a:defRPr>
            </a:pPr>
            <a:r>
              <a:rPr sz="1125" b="0">
                <a:solidFill>
                  <a:srgbClr val="526579"/>
                </a:solidFill>
                <a:latin typeface="Arial"/>
                <a:ea typeface="Arial"/>
                <a:cs typeface="Arial"/>
              </a:rPr>
              <a:t>Dashboard and forms</a:t>
            </a:r>
          </a:p>
          <a:p>
            <a:pPr algn="ctr">
              <a:defRPr sz="1125" b="0">
                <a:solidFill>
                  <a:srgbClr val="526579"/>
                </a:solidFill>
                <a:latin typeface="Arial"/>
                <a:ea typeface="Arial"/>
                <a:cs typeface="Arial"/>
              </a:defRPr>
            </a:pPr>
            <a:r>
              <a:rPr sz="1125" b="0">
                <a:solidFill>
                  <a:srgbClr val="526579"/>
                </a:solidFill>
                <a:latin typeface="Arial"/>
                <a:ea typeface="Arial"/>
                <a:cs typeface="Arial"/>
              </a:rPr>
              <a:t>NGINX unprivileged image</a:t>
            </a:r>
          </a:p>
        </p:txBody>
      </p:sp>
      <p:sp>
        <p:nvSpPr>
          <p:cNvPr id="15" name="Rectangle: Rounded Corners 14">
            <a:extLst>
              <a:ext uri="{FF2B5EF4-FFF2-40B4-BE49-F238E27FC236}">
                <a16:creationId xmlns:a16="http://schemas.microsoft.com/office/drawing/2014/main" id="{3C11E115-9B07-4524-91B7-9371154A9F54}"/>
              </a:ext>
            </a:extLst>
          </p:cNvPr>
          <p:cNvSpPr>
            <a:spLocks noGrp="1"/>
          </p:cNvSpPr>
          <p:nvPr/>
        </p:nvSpPr>
        <p:spPr>
          <a:xfrm>
            <a:off x="6572250" y="1952625"/>
            <a:ext cx="2238375" cy="1095375"/>
          </a:xfrm>
          <a:prstGeom prst="roundRect">
            <a:avLst>
              <a:gd name="adj" fmla="val 6957"/>
            </a:avLst>
          </a:prstGeom>
          <a:solidFill>
            <a:srgbClr val="FFFFFF"/>
          </a:solidFill>
          <a:ln w="9525">
            <a:solidFill>
              <a:srgbClr val="D7E0EA"/>
            </a:solidFill>
            <a:prstDash val="solid"/>
          </a:ln>
        </p:spPr>
      </p:sp>
      <p:sp>
        <p:nvSpPr>
          <p:cNvPr id="16" name="Rectangle 15">
            <a:extLst>
              <a:ext uri="{FF2B5EF4-FFF2-40B4-BE49-F238E27FC236}">
                <a16:creationId xmlns:a16="http://schemas.microsoft.com/office/drawing/2014/main" id="{AE805CB7-6782-4B64-926D-B946EAF70848}"/>
              </a:ext>
            </a:extLst>
          </p:cNvPr>
          <p:cNvSpPr>
            <a:spLocks noGrp="1"/>
          </p:cNvSpPr>
          <p:nvPr/>
        </p:nvSpPr>
        <p:spPr>
          <a:xfrm>
            <a:off x="6572250" y="1952625"/>
            <a:ext cx="2238375" cy="76200"/>
          </a:xfrm>
          <a:prstGeom prst="rect">
            <a:avLst/>
          </a:prstGeom>
          <a:solidFill>
            <a:srgbClr val="1C5D99"/>
          </a:solidFill>
          <a:ln w="0">
            <a:noFill/>
            <a:prstDash val="solid"/>
          </a:ln>
        </p:spPr>
      </p:sp>
      <p:sp>
        <p:nvSpPr>
          <p:cNvPr id="17" name="Rectangle 16">
            <a:extLst>
              <a:ext uri="{FF2B5EF4-FFF2-40B4-BE49-F238E27FC236}">
                <a16:creationId xmlns:a16="http://schemas.microsoft.com/office/drawing/2014/main" id="{28EA28B9-7C15-4901-956D-2751E9308E92}"/>
              </a:ext>
            </a:extLst>
          </p:cNvPr>
          <p:cNvSpPr>
            <a:spLocks noGrp="1"/>
          </p:cNvSpPr>
          <p:nvPr/>
        </p:nvSpPr>
        <p:spPr>
          <a:xfrm>
            <a:off x="6705600" y="2152650"/>
            <a:ext cx="1971675" cy="295275"/>
          </a:xfrm>
          <a:prstGeom prst="rect">
            <a:avLst/>
          </a:prstGeom>
          <a:noFill/>
          <a:ln w="0">
            <a:noFill/>
            <a:prstDash val="solid"/>
          </a:ln>
        </p:spPr>
        <p:txBody>
          <a:bodyPr lIns="0" tIns="0" rIns="0" bIns="0" anchor="ctr">
            <a:normAutofit/>
          </a:bodyPr>
          <a:lstStyle>
            <a:defPPr algn="ctr">
              <a:defRPr sz="1425" b="1">
                <a:solidFill>
                  <a:srgbClr val="10233F"/>
                </a:solidFill>
                <a:latin typeface="Arial"/>
                <a:ea typeface="Arial"/>
                <a:cs typeface="Arial"/>
              </a:defRPr>
            </a:defPPr>
          </a:lstStyle>
          <a:p>
            <a:pPr algn="ctr">
              <a:defRPr sz="1425" b="1">
                <a:solidFill>
                  <a:srgbClr val="10233F"/>
                </a:solidFill>
                <a:latin typeface="Arial"/>
                <a:ea typeface="Arial"/>
                <a:cs typeface="Arial"/>
              </a:defRPr>
            </a:pPr>
            <a:r>
              <a:rPr sz="1425" b="1">
                <a:solidFill>
                  <a:srgbClr val="10233F"/>
                </a:solidFill>
                <a:latin typeface="Arial"/>
                <a:ea typeface="Arial"/>
                <a:cs typeface="Arial"/>
              </a:rPr>
              <a:t>FastAPI</a:t>
            </a:r>
          </a:p>
        </p:txBody>
      </p:sp>
      <p:sp>
        <p:nvSpPr>
          <p:cNvPr id="18" name="Rectangle 17">
            <a:extLst>
              <a:ext uri="{FF2B5EF4-FFF2-40B4-BE49-F238E27FC236}">
                <a16:creationId xmlns:a16="http://schemas.microsoft.com/office/drawing/2014/main" id="{6D981520-87B8-44C1-B3CD-18B0E0EFAD9E}"/>
              </a:ext>
            </a:extLst>
          </p:cNvPr>
          <p:cNvSpPr>
            <a:spLocks noGrp="1"/>
          </p:cNvSpPr>
          <p:nvPr/>
        </p:nvSpPr>
        <p:spPr>
          <a:xfrm>
            <a:off x="6705600" y="2495550"/>
            <a:ext cx="1971675" cy="409575"/>
          </a:xfrm>
          <a:prstGeom prst="rect">
            <a:avLst/>
          </a:prstGeom>
          <a:noFill/>
          <a:ln w="0">
            <a:noFill/>
            <a:prstDash val="solid"/>
          </a:ln>
        </p:spPr>
        <p:txBody>
          <a:bodyPr lIns="0" tIns="0" rIns="0" bIns="0" anchor="ctr">
            <a:normAutofit/>
          </a:bodyPr>
          <a:lstStyle>
            <a:defPPr algn="ctr">
              <a:defRPr sz="1125" b="0">
                <a:solidFill>
                  <a:srgbClr val="526579"/>
                </a:solidFill>
                <a:latin typeface="Arial"/>
                <a:ea typeface="Arial"/>
                <a:cs typeface="Arial"/>
              </a:defRPr>
            </a:defPPr>
          </a:lstStyle>
          <a:p>
            <a:pPr algn="ctr">
              <a:defRPr sz="1125" b="0">
                <a:solidFill>
                  <a:srgbClr val="526579"/>
                </a:solidFill>
                <a:latin typeface="Arial"/>
                <a:ea typeface="Arial"/>
                <a:cs typeface="Arial"/>
              </a:defRPr>
            </a:pPr>
            <a:r>
              <a:rPr sz="1125" b="0">
                <a:solidFill>
                  <a:srgbClr val="526579"/>
                </a:solidFill>
                <a:latin typeface="Arial"/>
                <a:ea typeface="Arial"/>
                <a:cs typeface="Arial"/>
              </a:rPr>
              <a:t>REST API • /health • /ready</a:t>
            </a:r>
          </a:p>
          <a:p>
            <a:pPr algn="ctr">
              <a:defRPr sz="1125" b="0">
                <a:solidFill>
                  <a:srgbClr val="526579"/>
                </a:solidFill>
                <a:latin typeface="Arial"/>
                <a:ea typeface="Arial"/>
                <a:cs typeface="Arial"/>
              </a:defRPr>
            </a:pPr>
            <a:r>
              <a:rPr sz="1125" b="0">
                <a:solidFill>
                  <a:srgbClr val="526579"/>
                </a:solidFill>
                <a:latin typeface="Arial"/>
                <a:ea typeface="Arial"/>
                <a:cs typeface="Arial"/>
              </a:rPr>
              <a:t>/metrics • Prometheus</a:t>
            </a:r>
          </a:p>
        </p:txBody>
      </p:sp>
      <p:sp>
        <p:nvSpPr>
          <p:cNvPr id="19" name="Rectangle: Rounded Corners 18">
            <a:extLst>
              <a:ext uri="{FF2B5EF4-FFF2-40B4-BE49-F238E27FC236}">
                <a16:creationId xmlns:a16="http://schemas.microsoft.com/office/drawing/2014/main" id="{7717BB63-64AA-4362-9DDB-0FF81852547C}"/>
              </a:ext>
            </a:extLst>
          </p:cNvPr>
          <p:cNvSpPr>
            <a:spLocks noGrp="1"/>
          </p:cNvSpPr>
          <p:nvPr/>
        </p:nvSpPr>
        <p:spPr>
          <a:xfrm>
            <a:off x="9572625" y="1952625"/>
            <a:ext cx="1905000" cy="1095375"/>
          </a:xfrm>
          <a:prstGeom prst="roundRect">
            <a:avLst>
              <a:gd name="adj" fmla="val 6957"/>
            </a:avLst>
          </a:prstGeom>
          <a:solidFill>
            <a:srgbClr val="FFFFFF"/>
          </a:solidFill>
          <a:ln w="9525">
            <a:solidFill>
              <a:srgbClr val="D7E0EA"/>
            </a:solidFill>
            <a:prstDash val="solid"/>
          </a:ln>
        </p:spPr>
      </p:sp>
      <p:sp>
        <p:nvSpPr>
          <p:cNvPr id="20" name="Rectangle 19">
            <a:extLst>
              <a:ext uri="{FF2B5EF4-FFF2-40B4-BE49-F238E27FC236}">
                <a16:creationId xmlns:a16="http://schemas.microsoft.com/office/drawing/2014/main" id="{82C7596E-C676-4F07-9451-C5C463415B3B}"/>
              </a:ext>
            </a:extLst>
          </p:cNvPr>
          <p:cNvSpPr>
            <a:spLocks noGrp="1"/>
          </p:cNvSpPr>
          <p:nvPr/>
        </p:nvSpPr>
        <p:spPr>
          <a:xfrm>
            <a:off x="9572625" y="1952625"/>
            <a:ext cx="1905000" cy="76200"/>
          </a:xfrm>
          <a:prstGeom prst="rect">
            <a:avLst/>
          </a:prstGeom>
          <a:solidFill>
            <a:srgbClr val="2A9D8F"/>
          </a:solidFill>
          <a:ln w="0">
            <a:noFill/>
            <a:prstDash val="solid"/>
          </a:ln>
        </p:spPr>
      </p:sp>
      <p:sp>
        <p:nvSpPr>
          <p:cNvPr id="21" name="Rectangle 20">
            <a:extLst>
              <a:ext uri="{FF2B5EF4-FFF2-40B4-BE49-F238E27FC236}">
                <a16:creationId xmlns:a16="http://schemas.microsoft.com/office/drawing/2014/main" id="{BDD52CDF-CDF0-4E6C-9E19-CF99AAB340DF}"/>
              </a:ext>
            </a:extLst>
          </p:cNvPr>
          <p:cNvSpPr>
            <a:spLocks noGrp="1"/>
          </p:cNvSpPr>
          <p:nvPr/>
        </p:nvSpPr>
        <p:spPr>
          <a:xfrm>
            <a:off x="9705975" y="2152650"/>
            <a:ext cx="1638300" cy="295275"/>
          </a:xfrm>
          <a:prstGeom prst="rect">
            <a:avLst/>
          </a:prstGeom>
          <a:noFill/>
          <a:ln w="0">
            <a:noFill/>
            <a:prstDash val="solid"/>
          </a:ln>
        </p:spPr>
        <p:txBody>
          <a:bodyPr lIns="0" tIns="0" rIns="0" bIns="0" anchor="ctr">
            <a:normAutofit/>
          </a:bodyPr>
          <a:lstStyle>
            <a:defPPr algn="ctr">
              <a:defRPr sz="1425" b="1">
                <a:solidFill>
                  <a:srgbClr val="10233F"/>
                </a:solidFill>
                <a:latin typeface="Arial"/>
                <a:ea typeface="Arial"/>
                <a:cs typeface="Arial"/>
              </a:defRPr>
            </a:defPPr>
          </a:lstStyle>
          <a:p>
            <a:pPr algn="ctr">
              <a:defRPr sz="1425" b="1">
                <a:solidFill>
                  <a:srgbClr val="10233F"/>
                </a:solidFill>
                <a:latin typeface="Arial"/>
                <a:ea typeface="Arial"/>
                <a:cs typeface="Arial"/>
              </a:defRPr>
            </a:pPr>
            <a:r>
              <a:rPr sz="1425" b="1">
                <a:solidFill>
                  <a:srgbClr val="10233F"/>
                </a:solidFill>
                <a:latin typeface="Arial"/>
                <a:ea typeface="Arial"/>
                <a:cs typeface="Arial"/>
              </a:rPr>
              <a:t>PostgreSQL</a:t>
            </a:r>
          </a:p>
        </p:txBody>
      </p:sp>
      <p:sp>
        <p:nvSpPr>
          <p:cNvPr id="22" name="Rectangle 21">
            <a:extLst>
              <a:ext uri="{FF2B5EF4-FFF2-40B4-BE49-F238E27FC236}">
                <a16:creationId xmlns:a16="http://schemas.microsoft.com/office/drawing/2014/main" id="{6B9E7F5D-3CAD-4C22-AD51-DDCC18C0DB01}"/>
              </a:ext>
            </a:extLst>
          </p:cNvPr>
          <p:cNvSpPr>
            <a:spLocks noGrp="1"/>
          </p:cNvSpPr>
          <p:nvPr/>
        </p:nvSpPr>
        <p:spPr>
          <a:xfrm>
            <a:off x="9705975" y="2495550"/>
            <a:ext cx="1638300" cy="409575"/>
          </a:xfrm>
          <a:prstGeom prst="rect">
            <a:avLst/>
          </a:prstGeom>
          <a:noFill/>
          <a:ln w="0">
            <a:noFill/>
            <a:prstDash val="solid"/>
          </a:ln>
        </p:spPr>
        <p:txBody>
          <a:bodyPr lIns="0" tIns="0" rIns="0" bIns="0" anchor="ctr">
            <a:normAutofit/>
          </a:bodyPr>
          <a:lstStyle>
            <a:defPPr algn="ctr">
              <a:defRPr sz="1125" b="0">
                <a:solidFill>
                  <a:srgbClr val="526579"/>
                </a:solidFill>
                <a:latin typeface="Arial"/>
                <a:ea typeface="Arial"/>
                <a:cs typeface="Arial"/>
              </a:defRPr>
            </a:defPPr>
          </a:lstStyle>
          <a:p>
            <a:pPr algn="ctr">
              <a:defRPr sz="1125" b="0">
                <a:solidFill>
                  <a:srgbClr val="526579"/>
                </a:solidFill>
                <a:latin typeface="Arial"/>
                <a:ea typeface="Arial"/>
                <a:cs typeface="Arial"/>
              </a:defRPr>
            </a:pPr>
            <a:r>
              <a:rPr sz="1125" b="0">
                <a:solidFill>
                  <a:srgbClr val="526579"/>
                </a:solidFill>
                <a:latin typeface="Arial"/>
                <a:ea typeface="Arial"/>
                <a:cs typeface="Arial"/>
              </a:rPr>
              <a:t>Assignment storage</a:t>
            </a:r>
          </a:p>
          <a:p>
            <a:pPr algn="ctr">
              <a:defRPr sz="1125" b="0">
                <a:solidFill>
                  <a:srgbClr val="526579"/>
                </a:solidFill>
                <a:latin typeface="Arial"/>
                <a:ea typeface="Arial"/>
                <a:cs typeface="Arial"/>
              </a:defRPr>
            </a:pPr>
            <a:r>
              <a:rPr sz="1125" b="0">
                <a:solidFill>
                  <a:srgbClr val="526579"/>
                </a:solidFill>
                <a:latin typeface="Arial"/>
                <a:ea typeface="Arial"/>
                <a:cs typeface="Arial"/>
              </a:rPr>
              <a:t>Alembic migrations</a:t>
            </a:r>
          </a:p>
        </p:txBody>
      </p:sp>
      <p:sp>
        <p:nvSpPr>
          <p:cNvPr id="23" name="Rectangle 22">
            <a:extLst>
              <a:ext uri="{FF2B5EF4-FFF2-40B4-BE49-F238E27FC236}">
                <a16:creationId xmlns:a16="http://schemas.microsoft.com/office/drawing/2014/main" id="{D9A49658-4DE2-45A8-95B5-8A4FD2F92FF2}"/>
              </a:ext>
            </a:extLst>
          </p:cNvPr>
          <p:cNvSpPr>
            <a:spLocks noGrp="1"/>
          </p:cNvSpPr>
          <p:nvPr/>
        </p:nvSpPr>
        <p:spPr>
          <a:xfrm>
            <a:off x="2838450" y="2476500"/>
            <a:ext cx="628650" cy="28575"/>
          </a:xfrm>
          <a:prstGeom prst="rect">
            <a:avLst/>
          </a:prstGeom>
          <a:solidFill>
            <a:srgbClr val="2A9D8F"/>
          </a:solidFill>
          <a:ln w="0">
            <a:noFill/>
            <a:prstDash val="solid"/>
          </a:ln>
        </p:spPr>
      </p:sp>
      <p:sp>
        <p:nvSpPr>
          <p:cNvPr id="24" name="Isosceles Triangle 23">
            <a:extLst>
              <a:ext uri="{FF2B5EF4-FFF2-40B4-BE49-F238E27FC236}">
                <a16:creationId xmlns:a16="http://schemas.microsoft.com/office/drawing/2014/main" id="{4C559E59-065C-423B-9052-BB79BE31A5E4}"/>
              </a:ext>
            </a:extLst>
          </p:cNvPr>
          <p:cNvSpPr>
            <a:spLocks noGrp="1"/>
          </p:cNvSpPr>
          <p:nvPr/>
        </p:nvSpPr>
        <p:spPr>
          <a:xfrm rot="5400000">
            <a:off x="3419475" y="2400300"/>
            <a:ext cx="152400" cy="171450"/>
          </a:xfrm>
          <a:prstGeom prst="triangle">
            <a:avLst/>
          </a:prstGeom>
          <a:noFill/>
          <a:ln w="0">
            <a:noFill/>
            <a:prstDash val="solid"/>
          </a:ln>
        </p:spPr>
      </p:sp>
      <p:sp>
        <p:nvSpPr>
          <p:cNvPr id="25" name="Rectangle 24">
            <a:extLst>
              <a:ext uri="{FF2B5EF4-FFF2-40B4-BE49-F238E27FC236}">
                <a16:creationId xmlns:a16="http://schemas.microsoft.com/office/drawing/2014/main" id="{49ACE31D-1076-4A74-9652-97FD916E02EF}"/>
              </a:ext>
            </a:extLst>
          </p:cNvPr>
          <p:cNvSpPr>
            <a:spLocks noGrp="1"/>
          </p:cNvSpPr>
          <p:nvPr/>
        </p:nvSpPr>
        <p:spPr>
          <a:xfrm>
            <a:off x="2800350" y="2171700"/>
            <a:ext cx="762000" cy="228600"/>
          </a:xfrm>
          <a:prstGeom prst="rect">
            <a:avLst/>
          </a:prstGeom>
          <a:noFill/>
          <a:ln w="0">
            <a:noFill/>
            <a:prstDash val="solid"/>
          </a:ln>
        </p:spPr>
        <p:txBody>
          <a:bodyPr lIns="0" tIns="0" rIns="0" bIns="0" anchor="ctr">
            <a:normAutofit/>
          </a:bodyPr>
          <a:lstStyle>
            <a:defPPr algn="ctr">
              <a:defRPr sz="900" b="1">
                <a:solidFill>
                  <a:srgbClr val="1C5D99"/>
                </a:solidFill>
                <a:latin typeface="Arial"/>
                <a:ea typeface="Arial"/>
                <a:cs typeface="Arial"/>
              </a:defRPr>
            </a:defPPr>
          </a:lstStyle>
          <a:p>
            <a:pPr algn="ctr">
              <a:defRPr sz="900" b="1">
                <a:solidFill>
                  <a:srgbClr val="1C5D99"/>
                </a:solidFill>
                <a:latin typeface="Arial"/>
                <a:ea typeface="Arial"/>
                <a:cs typeface="Arial"/>
              </a:defRPr>
            </a:pPr>
            <a:r>
              <a:rPr sz="900" b="1">
                <a:solidFill>
                  <a:srgbClr val="1C5D99"/>
                </a:solidFill>
                <a:latin typeface="Arial"/>
                <a:ea typeface="Arial"/>
                <a:cs typeface="Arial"/>
              </a:rPr>
              <a:t>HTTPS</a:t>
            </a:r>
          </a:p>
        </p:txBody>
      </p:sp>
      <p:sp>
        <p:nvSpPr>
          <p:cNvPr id="26" name="Rectangle 25">
            <a:extLst>
              <a:ext uri="{FF2B5EF4-FFF2-40B4-BE49-F238E27FC236}">
                <a16:creationId xmlns:a16="http://schemas.microsoft.com/office/drawing/2014/main" id="{F36E8376-FF51-41C5-B983-11EE59A55E5A}"/>
              </a:ext>
            </a:extLst>
          </p:cNvPr>
          <p:cNvSpPr>
            <a:spLocks noGrp="1"/>
          </p:cNvSpPr>
          <p:nvPr/>
        </p:nvSpPr>
        <p:spPr>
          <a:xfrm>
            <a:off x="5838825" y="2476500"/>
            <a:ext cx="638175" cy="28575"/>
          </a:xfrm>
          <a:prstGeom prst="rect">
            <a:avLst/>
          </a:prstGeom>
          <a:solidFill>
            <a:srgbClr val="2A9D8F"/>
          </a:solidFill>
          <a:ln w="0">
            <a:noFill/>
            <a:prstDash val="solid"/>
          </a:ln>
        </p:spPr>
      </p:sp>
      <p:sp>
        <p:nvSpPr>
          <p:cNvPr id="27" name="Isosceles Triangle 26">
            <a:extLst>
              <a:ext uri="{FF2B5EF4-FFF2-40B4-BE49-F238E27FC236}">
                <a16:creationId xmlns:a16="http://schemas.microsoft.com/office/drawing/2014/main" id="{240D7451-D4B4-4A4A-9B8A-7100445F0395}"/>
              </a:ext>
            </a:extLst>
          </p:cNvPr>
          <p:cNvSpPr>
            <a:spLocks noGrp="1"/>
          </p:cNvSpPr>
          <p:nvPr/>
        </p:nvSpPr>
        <p:spPr>
          <a:xfrm rot="5400000">
            <a:off x="6429375" y="2400300"/>
            <a:ext cx="152400" cy="171450"/>
          </a:xfrm>
          <a:prstGeom prst="triangle">
            <a:avLst/>
          </a:prstGeom>
          <a:noFill/>
          <a:ln w="0">
            <a:noFill/>
            <a:prstDash val="solid"/>
          </a:ln>
        </p:spPr>
      </p:sp>
      <p:sp>
        <p:nvSpPr>
          <p:cNvPr id="28" name="Rectangle 27">
            <a:extLst>
              <a:ext uri="{FF2B5EF4-FFF2-40B4-BE49-F238E27FC236}">
                <a16:creationId xmlns:a16="http://schemas.microsoft.com/office/drawing/2014/main" id="{91350F94-988A-4987-BEA8-B9DFE1EE6A25}"/>
              </a:ext>
            </a:extLst>
          </p:cNvPr>
          <p:cNvSpPr>
            <a:spLocks noGrp="1"/>
          </p:cNvSpPr>
          <p:nvPr/>
        </p:nvSpPr>
        <p:spPr>
          <a:xfrm>
            <a:off x="5800725" y="2171700"/>
            <a:ext cx="771525" cy="228600"/>
          </a:xfrm>
          <a:prstGeom prst="rect">
            <a:avLst/>
          </a:prstGeom>
          <a:noFill/>
          <a:ln w="0">
            <a:noFill/>
            <a:prstDash val="solid"/>
          </a:ln>
        </p:spPr>
        <p:txBody>
          <a:bodyPr lIns="0" tIns="0" rIns="0" bIns="0" anchor="ctr">
            <a:normAutofit/>
          </a:bodyPr>
          <a:lstStyle>
            <a:defPPr algn="ctr">
              <a:defRPr sz="900" b="1">
                <a:solidFill>
                  <a:srgbClr val="1C5D99"/>
                </a:solidFill>
                <a:latin typeface="Arial"/>
                <a:ea typeface="Arial"/>
                <a:cs typeface="Arial"/>
              </a:defRPr>
            </a:defPPr>
          </a:lstStyle>
          <a:p>
            <a:pPr algn="ctr">
              <a:defRPr sz="900" b="1">
                <a:solidFill>
                  <a:srgbClr val="1C5D99"/>
                </a:solidFill>
                <a:latin typeface="Arial"/>
                <a:ea typeface="Arial"/>
                <a:cs typeface="Arial"/>
              </a:defRPr>
            </a:pPr>
            <a:r>
              <a:rPr sz="900" b="1">
                <a:solidFill>
                  <a:srgbClr val="1C5D99"/>
                </a:solidFill>
                <a:latin typeface="Arial"/>
                <a:ea typeface="Arial"/>
                <a:cs typeface="Arial"/>
              </a:rPr>
              <a:t>/api</a:t>
            </a:r>
          </a:p>
        </p:txBody>
      </p:sp>
      <p:sp>
        <p:nvSpPr>
          <p:cNvPr id="29" name="Rectangle 28">
            <a:extLst>
              <a:ext uri="{FF2B5EF4-FFF2-40B4-BE49-F238E27FC236}">
                <a16:creationId xmlns:a16="http://schemas.microsoft.com/office/drawing/2014/main" id="{0485FB15-1F4B-4AC4-AB17-29792745CBDF}"/>
              </a:ext>
            </a:extLst>
          </p:cNvPr>
          <p:cNvSpPr>
            <a:spLocks noGrp="1"/>
          </p:cNvSpPr>
          <p:nvPr/>
        </p:nvSpPr>
        <p:spPr>
          <a:xfrm>
            <a:off x="8848725" y="2476500"/>
            <a:ext cx="628650" cy="28575"/>
          </a:xfrm>
          <a:prstGeom prst="rect">
            <a:avLst/>
          </a:prstGeom>
          <a:solidFill>
            <a:srgbClr val="2A9D8F"/>
          </a:solidFill>
          <a:ln w="0">
            <a:noFill/>
            <a:prstDash val="solid"/>
          </a:ln>
        </p:spPr>
      </p:sp>
      <p:sp>
        <p:nvSpPr>
          <p:cNvPr id="30" name="Isosceles Triangle 29">
            <a:extLst>
              <a:ext uri="{FF2B5EF4-FFF2-40B4-BE49-F238E27FC236}">
                <a16:creationId xmlns:a16="http://schemas.microsoft.com/office/drawing/2014/main" id="{7A88ACB2-CACE-468D-BE98-93EEEC2E0D24}"/>
              </a:ext>
            </a:extLst>
          </p:cNvPr>
          <p:cNvSpPr>
            <a:spLocks noGrp="1"/>
          </p:cNvSpPr>
          <p:nvPr/>
        </p:nvSpPr>
        <p:spPr>
          <a:xfrm rot="5400000">
            <a:off x="9429750" y="2400300"/>
            <a:ext cx="152400" cy="171450"/>
          </a:xfrm>
          <a:prstGeom prst="triangle">
            <a:avLst/>
          </a:prstGeom>
          <a:noFill/>
          <a:ln w="0">
            <a:noFill/>
            <a:prstDash val="solid"/>
          </a:ln>
        </p:spPr>
      </p:sp>
      <p:sp>
        <p:nvSpPr>
          <p:cNvPr id="31" name="Rectangle 30">
            <a:extLst>
              <a:ext uri="{FF2B5EF4-FFF2-40B4-BE49-F238E27FC236}">
                <a16:creationId xmlns:a16="http://schemas.microsoft.com/office/drawing/2014/main" id="{709893EE-F0DF-421C-90AD-5E72AA145625}"/>
              </a:ext>
            </a:extLst>
          </p:cNvPr>
          <p:cNvSpPr>
            <a:spLocks noGrp="1"/>
          </p:cNvSpPr>
          <p:nvPr/>
        </p:nvSpPr>
        <p:spPr>
          <a:xfrm>
            <a:off x="8810625" y="2171700"/>
            <a:ext cx="762000" cy="228600"/>
          </a:xfrm>
          <a:prstGeom prst="rect">
            <a:avLst/>
          </a:prstGeom>
          <a:noFill/>
          <a:ln w="0">
            <a:noFill/>
            <a:prstDash val="solid"/>
          </a:ln>
        </p:spPr>
        <p:txBody>
          <a:bodyPr lIns="0" tIns="0" rIns="0" bIns="0" anchor="ctr">
            <a:normAutofit/>
          </a:bodyPr>
          <a:lstStyle>
            <a:defPPr algn="ctr">
              <a:defRPr sz="900" b="1">
                <a:solidFill>
                  <a:srgbClr val="1C5D99"/>
                </a:solidFill>
                <a:latin typeface="Arial"/>
                <a:ea typeface="Arial"/>
                <a:cs typeface="Arial"/>
              </a:defRPr>
            </a:defPPr>
          </a:lstStyle>
          <a:p>
            <a:pPr algn="ctr">
              <a:defRPr sz="900" b="1">
                <a:solidFill>
                  <a:srgbClr val="1C5D99"/>
                </a:solidFill>
                <a:latin typeface="Arial"/>
                <a:ea typeface="Arial"/>
                <a:cs typeface="Arial"/>
              </a:defRPr>
            </a:pPr>
            <a:r>
              <a:rPr sz="900" b="1">
                <a:solidFill>
                  <a:srgbClr val="1C5D99"/>
                </a:solidFill>
                <a:latin typeface="Arial"/>
                <a:ea typeface="Arial"/>
                <a:cs typeface="Arial"/>
              </a:rPr>
              <a:t>SQL</a:t>
            </a:r>
          </a:p>
        </p:txBody>
      </p:sp>
      <p:sp>
        <p:nvSpPr>
          <p:cNvPr id="32" name="Rectangle: Rounded Corners 31">
            <a:extLst>
              <a:ext uri="{FF2B5EF4-FFF2-40B4-BE49-F238E27FC236}">
                <a16:creationId xmlns:a16="http://schemas.microsoft.com/office/drawing/2014/main" id="{1E3E029F-1DDC-49B1-8DC3-1184042CF7F2}"/>
              </a:ext>
            </a:extLst>
          </p:cNvPr>
          <p:cNvSpPr>
            <a:spLocks noGrp="1"/>
          </p:cNvSpPr>
          <p:nvPr/>
        </p:nvSpPr>
        <p:spPr>
          <a:xfrm>
            <a:off x="2095500" y="3810000"/>
            <a:ext cx="3524250" cy="1190625"/>
          </a:xfrm>
          <a:prstGeom prst="roundRect">
            <a:avLst>
              <a:gd name="adj" fmla="val 6400"/>
            </a:avLst>
          </a:prstGeom>
          <a:solidFill>
            <a:srgbClr val="FFFFFF"/>
          </a:solidFill>
          <a:ln w="9525">
            <a:solidFill>
              <a:srgbClr val="D7E0EA"/>
            </a:solidFill>
            <a:prstDash val="solid"/>
          </a:ln>
        </p:spPr>
      </p:sp>
      <p:sp>
        <p:nvSpPr>
          <p:cNvPr id="33" name="Rectangle 32">
            <a:extLst>
              <a:ext uri="{FF2B5EF4-FFF2-40B4-BE49-F238E27FC236}">
                <a16:creationId xmlns:a16="http://schemas.microsoft.com/office/drawing/2014/main" id="{DA42E65B-0672-4690-B5EB-7F9AF5EAB7EE}"/>
              </a:ext>
            </a:extLst>
          </p:cNvPr>
          <p:cNvSpPr>
            <a:spLocks noGrp="1"/>
          </p:cNvSpPr>
          <p:nvPr/>
        </p:nvSpPr>
        <p:spPr>
          <a:xfrm>
            <a:off x="2095500" y="3810000"/>
            <a:ext cx="66675" cy="1190625"/>
          </a:xfrm>
          <a:prstGeom prst="rect">
            <a:avLst/>
          </a:prstGeom>
          <a:solidFill>
            <a:srgbClr val="1C5D99"/>
          </a:solidFill>
          <a:ln w="0">
            <a:noFill/>
            <a:prstDash val="solid"/>
          </a:ln>
        </p:spPr>
      </p:sp>
      <p:sp>
        <p:nvSpPr>
          <p:cNvPr id="34" name="Rectangle 33">
            <a:extLst>
              <a:ext uri="{FF2B5EF4-FFF2-40B4-BE49-F238E27FC236}">
                <a16:creationId xmlns:a16="http://schemas.microsoft.com/office/drawing/2014/main" id="{7C47E3B5-665C-453F-9C2F-114C81F01BD8}"/>
              </a:ext>
            </a:extLst>
          </p:cNvPr>
          <p:cNvSpPr>
            <a:spLocks noGrp="1"/>
          </p:cNvSpPr>
          <p:nvPr/>
        </p:nvSpPr>
        <p:spPr>
          <a:xfrm>
            <a:off x="2305050" y="3971925"/>
            <a:ext cx="312420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Local development</a:t>
            </a:r>
          </a:p>
        </p:txBody>
      </p:sp>
      <p:sp>
        <p:nvSpPr>
          <p:cNvPr id="35" name="Rectangle 34">
            <a:extLst>
              <a:ext uri="{FF2B5EF4-FFF2-40B4-BE49-F238E27FC236}">
                <a16:creationId xmlns:a16="http://schemas.microsoft.com/office/drawing/2014/main" id="{5B1676F5-1FA6-40D1-AF52-217B7EE1F405}"/>
              </a:ext>
            </a:extLst>
          </p:cNvPr>
          <p:cNvSpPr>
            <a:spLocks noGrp="1"/>
          </p:cNvSpPr>
          <p:nvPr/>
        </p:nvSpPr>
        <p:spPr>
          <a:xfrm>
            <a:off x="2305050" y="4314825"/>
            <a:ext cx="3124200" cy="561975"/>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Docker Compose starts frontend, backend, and database with health checks.</a:t>
            </a:r>
          </a:p>
        </p:txBody>
      </p:sp>
      <p:sp>
        <p:nvSpPr>
          <p:cNvPr id="36" name="Rectangle: Rounded Corners 35">
            <a:extLst>
              <a:ext uri="{FF2B5EF4-FFF2-40B4-BE49-F238E27FC236}">
                <a16:creationId xmlns:a16="http://schemas.microsoft.com/office/drawing/2014/main" id="{F496AF50-AD33-4E9A-AC3F-45E8C7531C97}"/>
              </a:ext>
            </a:extLst>
          </p:cNvPr>
          <p:cNvSpPr>
            <a:spLocks noGrp="1"/>
          </p:cNvSpPr>
          <p:nvPr/>
        </p:nvSpPr>
        <p:spPr>
          <a:xfrm>
            <a:off x="6572250" y="3810000"/>
            <a:ext cx="3524250" cy="1190625"/>
          </a:xfrm>
          <a:prstGeom prst="roundRect">
            <a:avLst>
              <a:gd name="adj" fmla="val 6400"/>
            </a:avLst>
          </a:prstGeom>
          <a:solidFill>
            <a:srgbClr val="FFFFFF"/>
          </a:solidFill>
          <a:ln w="9525">
            <a:solidFill>
              <a:srgbClr val="D7E0EA"/>
            </a:solidFill>
            <a:prstDash val="solid"/>
          </a:ln>
        </p:spPr>
      </p:sp>
      <p:sp>
        <p:nvSpPr>
          <p:cNvPr id="37" name="Rectangle 36">
            <a:extLst>
              <a:ext uri="{FF2B5EF4-FFF2-40B4-BE49-F238E27FC236}">
                <a16:creationId xmlns:a16="http://schemas.microsoft.com/office/drawing/2014/main" id="{22E40BEB-48EB-435C-8904-131A3927B77C}"/>
              </a:ext>
            </a:extLst>
          </p:cNvPr>
          <p:cNvSpPr>
            <a:spLocks noGrp="1"/>
          </p:cNvSpPr>
          <p:nvPr/>
        </p:nvSpPr>
        <p:spPr>
          <a:xfrm>
            <a:off x="6572250" y="3810000"/>
            <a:ext cx="66675" cy="1190625"/>
          </a:xfrm>
          <a:prstGeom prst="rect">
            <a:avLst/>
          </a:prstGeom>
          <a:solidFill>
            <a:srgbClr val="2A9D8F"/>
          </a:solidFill>
          <a:ln w="0">
            <a:noFill/>
            <a:prstDash val="solid"/>
          </a:ln>
        </p:spPr>
      </p:sp>
      <p:sp>
        <p:nvSpPr>
          <p:cNvPr id="38" name="Rectangle 37">
            <a:extLst>
              <a:ext uri="{FF2B5EF4-FFF2-40B4-BE49-F238E27FC236}">
                <a16:creationId xmlns:a16="http://schemas.microsoft.com/office/drawing/2014/main" id="{11CD70CC-F7EE-4043-9AEE-903A193EC868}"/>
              </a:ext>
            </a:extLst>
          </p:cNvPr>
          <p:cNvSpPr>
            <a:spLocks noGrp="1"/>
          </p:cNvSpPr>
          <p:nvPr/>
        </p:nvSpPr>
        <p:spPr>
          <a:xfrm>
            <a:off x="6781800" y="3971925"/>
            <a:ext cx="312420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Cloud runtime</a:t>
            </a:r>
          </a:p>
        </p:txBody>
      </p:sp>
      <p:sp>
        <p:nvSpPr>
          <p:cNvPr id="39" name="Rectangle 38">
            <a:extLst>
              <a:ext uri="{FF2B5EF4-FFF2-40B4-BE49-F238E27FC236}">
                <a16:creationId xmlns:a16="http://schemas.microsoft.com/office/drawing/2014/main" id="{039BDCA5-FD8B-497E-922E-5B62256A7C89}"/>
              </a:ext>
            </a:extLst>
          </p:cNvPr>
          <p:cNvSpPr>
            <a:spLocks noGrp="1"/>
          </p:cNvSpPr>
          <p:nvPr/>
        </p:nvSpPr>
        <p:spPr>
          <a:xfrm>
            <a:off x="6781800" y="4314825"/>
            <a:ext cx="3124200" cy="561975"/>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EKS deployments and Services run the same app; Ingress exposes the frontend.</a:t>
            </a:r>
          </a:p>
        </p:txBody>
      </p:sp>
      <p:sp>
        <p:nvSpPr>
          <p:cNvPr id="40" name="Rectangle 39">
            <a:extLst>
              <a:ext uri="{FF2B5EF4-FFF2-40B4-BE49-F238E27FC236}">
                <a16:creationId xmlns:a16="http://schemas.microsoft.com/office/drawing/2014/main" id="{20BC628B-47D0-4D82-A404-483D207AFB1A}"/>
              </a:ext>
            </a:extLst>
          </p:cNvPr>
          <p:cNvSpPr>
            <a:spLocks noGrp="1"/>
          </p:cNvSpPr>
          <p:nvPr/>
        </p:nvSpPr>
        <p:spPr>
          <a:xfrm>
            <a:off x="2667000" y="5381625"/>
            <a:ext cx="6858000" cy="333375"/>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Metrics flow from FastAPI → Prometheus → Grafana</a:t>
            </a:r>
          </a:p>
        </p:txBody>
      </p:sp>
    </p:spTree>
    <p:extLst>
      <p:ext uri="{BB962C8B-B14F-4D97-AF65-F5344CB8AC3E}">
        <p14:creationId xmlns:p14="http://schemas.microsoft.com/office/powerpoint/2010/main" val="420200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52467B3-26CD-423B-AF8B-F320260F4CD9}"/>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CA04A60E-5FB1-4FEA-A7C2-04C053EFD7AA}"/>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APPLICATION</a:t>
            </a:r>
          </a:p>
        </p:txBody>
      </p:sp>
      <p:sp>
        <p:nvSpPr>
          <p:cNvPr id="3" name="Rectangle 2">
            <a:extLst>
              <a:ext uri="{FF2B5EF4-FFF2-40B4-BE49-F238E27FC236}">
                <a16:creationId xmlns:a16="http://schemas.microsoft.com/office/drawing/2014/main" id="{2AE97DCF-A32B-4C1F-B226-4B3D1AED75D7}"/>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C3E00DE5-B5A7-4B26-8DCC-87E6B0699185}"/>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CDE94F24-D7F8-4380-B930-18D8A18A90D2}"/>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The product: StudySpace planner</a:t>
            </a:r>
          </a:p>
        </p:txBody>
      </p:sp>
      <p:sp>
        <p:nvSpPr>
          <p:cNvPr id="6" name="Rectangle 5">
            <a:extLst>
              <a:ext uri="{FF2B5EF4-FFF2-40B4-BE49-F238E27FC236}">
                <a16:creationId xmlns:a16="http://schemas.microsoft.com/office/drawing/2014/main" id="{E80CD630-4FE3-492F-A90C-81E2229E13CE}"/>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React dashboard gives students one place to track assignments, due dates, status, and priority.</a:t>
            </a:r>
          </a:p>
        </p:txBody>
      </p:sp>
      <p:sp>
        <p:nvSpPr>
          <p:cNvPr id="7" name="Rectangle: Rounded Corners 6">
            <a:extLst>
              <a:ext uri="{FF2B5EF4-FFF2-40B4-BE49-F238E27FC236}">
                <a16:creationId xmlns:a16="http://schemas.microsoft.com/office/drawing/2014/main" id="{1186EF72-E6D5-48EF-9216-8A7822E9D207}"/>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AD2DC198-A408-4C1B-817E-C7B102C0632B}"/>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13" name="Rectangle: Rounded Corners 12">
            <a:extLst>
              <a:ext uri="{FF2B5EF4-FFF2-40B4-BE49-F238E27FC236}">
                <a16:creationId xmlns:a16="http://schemas.microsoft.com/office/drawing/2014/main" id="{EF258AC4-3E29-4B90-B2D8-C9AFF4001EC1}"/>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2BE6B56B-17D7-4938-BA32-E477433F2C47}"/>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The captured view is the initial empty state; the UI is running locally at port 3000.</a:t>
            </a:r>
          </a:p>
        </p:txBody>
      </p:sp>
      <p:pic>
        <p:nvPicPr>
          <p:cNvPr id="16" name="Picture 15">
            <a:extLst>
              <a:ext uri="{FF2B5EF4-FFF2-40B4-BE49-F238E27FC236}">
                <a16:creationId xmlns:a16="http://schemas.microsoft.com/office/drawing/2014/main" id="{D64383B5-CBBC-B3A2-7EF2-EE02DA9910B7}"/>
              </a:ext>
            </a:extLst>
          </p:cNvPr>
          <p:cNvPicPr>
            <a:picLocks noChangeAspect="1"/>
          </p:cNvPicPr>
          <p:nvPr/>
        </p:nvPicPr>
        <p:blipFill>
          <a:blip r:embed="rId3"/>
          <a:stretch>
            <a:fillRect/>
          </a:stretch>
        </p:blipFill>
        <p:spPr>
          <a:xfrm>
            <a:off x="2798138" y="1717108"/>
            <a:ext cx="6157310" cy="3930042"/>
          </a:xfrm>
          <a:prstGeom prst="rect">
            <a:avLst/>
          </a:prstGeom>
        </p:spPr>
      </p:pic>
    </p:spTree>
    <p:extLst>
      <p:ext uri="{BB962C8B-B14F-4D97-AF65-F5344CB8AC3E}">
        <p14:creationId xmlns:p14="http://schemas.microsoft.com/office/powerpoint/2010/main" val="1078971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FB964F1-9BF5-4936-9BDC-4FC167131D54}"/>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BBA85BC4-7484-4F9D-9CCC-DCB9E2DF1C76}"/>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TESTING</a:t>
            </a:r>
          </a:p>
        </p:txBody>
      </p:sp>
      <p:sp>
        <p:nvSpPr>
          <p:cNvPr id="3" name="Rectangle 2">
            <a:extLst>
              <a:ext uri="{FF2B5EF4-FFF2-40B4-BE49-F238E27FC236}">
                <a16:creationId xmlns:a16="http://schemas.microsoft.com/office/drawing/2014/main" id="{E3F699AB-6CD8-47AF-8C7C-42C19F92C39B}"/>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2EF6FDB7-9099-4713-A4F0-D64BF7965E08}"/>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C75A1F84-119D-46A1-B9D4-6FD2B2689A72}"/>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Automated API tests: 6 passed</a:t>
            </a:r>
          </a:p>
        </p:txBody>
      </p:sp>
      <p:sp>
        <p:nvSpPr>
          <p:cNvPr id="6" name="Rectangle 5">
            <a:extLst>
              <a:ext uri="{FF2B5EF4-FFF2-40B4-BE49-F238E27FC236}">
                <a16:creationId xmlns:a16="http://schemas.microsoft.com/office/drawing/2014/main" id="{C98B83C7-4CD3-47E9-9334-463FF101935C}"/>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test suite covers health, root response, assignment CRUD, statistics, and validation.</a:t>
            </a:r>
          </a:p>
        </p:txBody>
      </p:sp>
      <p:sp>
        <p:nvSpPr>
          <p:cNvPr id="7" name="Rectangle: Rounded Corners 6">
            <a:extLst>
              <a:ext uri="{FF2B5EF4-FFF2-40B4-BE49-F238E27FC236}">
                <a16:creationId xmlns:a16="http://schemas.microsoft.com/office/drawing/2014/main" id="{89351B0C-4557-4923-8D83-93551CD7AFC5}"/>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33AA588B-19DA-4718-9FC3-9FBB779DE755}"/>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13" name="Rectangle: Rounded Corners 12">
            <a:extLst>
              <a:ext uri="{FF2B5EF4-FFF2-40B4-BE49-F238E27FC236}">
                <a16:creationId xmlns:a16="http://schemas.microsoft.com/office/drawing/2014/main" id="{BB827811-E11A-4A51-8494-FF8D0B18764F}"/>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5510DA26-E215-42FF-986B-88CDFDC6D017}"/>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Run shown with Python 3.12.15. One Starlette/httpx deprecation warning is non-failing.</a:t>
            </a:r>
          </a:p>
        </p:txBody>
      </p:sp>
      <p:pic>
        <p:nvPicPr>
          <p:cNvPr id="16" name="Picture 15">
            <a:extLst>
              <a:ext uri="{FF2B5EF4-FFF2-40B4-BE49-F238E27FC236}">
                <a16:creationId xmlns:a16="http://schemas.microsoft.com/office/drawing/2014/main" id="{41826557-BDA8-2B37-3D0F-E40F0AA9DD75}"/>
              </a:ext>
            </a:extLst>
          </p:cNvPr>
          <p:cNvPicPr>
            <a:picLocks noChangeAspect="1"/>
          </p:cNvPicPr>
          <p:nvPr/>
        </p:nvPicPr>
        <p:blipFill>
          <a:blip r:embed="rId3"/>
          <a:srcRect l="22082" t="35244" r="-255" b="-76"/>
          <a:stretch>
            <a:fillRect/>
          </a:stretch>
        </p:blipFill>
        <p:spPr>
          <a:xfrm>
            <a:off x="2348238" y="1736699"/>
            <a:ext cx="7494438" cy="3913844"/>
          </a:xfrm>
          <a:prstGeom prst="rect">
            <a:avLst/>
          </a:prstGeom>
        </p:spPr>
      </p:pic>
    </p:spTree>
    <p:extLst>
      <p:ext uri="{BB962C8B-B14F-4D97-AF65-F5344CB8AC3E}">
        <p14:creationId xmlns:p14="http://schemas.microsoft.com/office/powerpoint/2010/main" val="763111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9A0C0B5-6BD8-4722-9A65-BE8CF79EDEE4}"/>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DD045D1B-6BC8-48F0-B91F-5F2D928E3C92}"/>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CONTAINERS</a:t>
            </a:r>
          </a:p>
        </p:txBody>
      </p:sp>
      <p:sp>
        <p:nvSpPr>
          <p:cNvPr id="3" name="Rectangle 2">
            <a:extLst>
              <a:ext uri="{FF2B5EF4-FFF2-40B4-BE49-F238E27FC236}">
                <a16:creationId xmlns:a16="http://schemas.microsoft.com/office/drawing/2014/main" id="{8D1B7E06-C3A8-4598-B667-A3021D777484}"/>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4F8CECC1-586A-4F66-933C-7377019F2CE0}"/>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89AA24C6-FEF8-4D8F-8136-D19EAF9A5D9F}"/>
              </a:ext>
            </a:extLst>
          </p:cNvPr>
          <p:cNvSpPr>
            <a:spLocks noGrp="1"/>
          </p:cNvSpPr>
          <p:nvPr/>
        </p:nvSpPr>
        <p:spPr>
          <a:xfrm>
            <a:off x="609600" y="641176"/>
            <a:ext cx="5210827" cy="239508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Docker Compose brings the stack up</a:t>
            </a:r>
          </a:p>
        </p:txBody>
      </p:sp>
      <p:sp>
        <p:nvSpPr>
          <p:cNvPr id="6" name="Rectangle 5">
            <a:extLst>
              <a:ext uri="{FF2B5EF4-FFF2-40B4-BE49-F238E27FC236}">
                <a16:creationId xmlns:a16="http://schemas.microsoft.com/office/drawing/2014/main" id="{7E2C1AB6-6691-47FB-B577-83509F525584}"/>
              </a:ext>
            </a:extLst>
          </p:cNvPr>
          <p:cNvSpPr>
            <a:spLocks noGrp="1"/>
          </p:cNvSpPr>
          <p:nvPr/>
        </p:nvSpPr>
        <p:spPr>
          <a:xfrm>
            <a:off x="609600" y="2490070"/>
            <a:ext cx="4010417" cy="1880991"/>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Compose builds and starts the frontend, backend, and PostgreSQL with service health checks.</a:t>
            </a:r>
          </a:p>
        </p:txBody>
      </p:sp>
      <p:sp>
        <p:nvSpPr>
          <p:cNvPr id="13" name="Rectangle: Rounded Corners 12">
            <a:extLst>
              <a:ext uri="{FF2B5EF4-FFF2-40B4-BE49-F238E27FC236}">
                <a16:creationId xmlns:a16="http://schemas.microsoft.com/office/drawing/2014/main" id="{6AE7C091-FB5E-49F2-80A6-4FA7C7ADAE2C}"/>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C8DF379C-C5F4-4876-8A21-56520D571FF7}"/>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Local entry points: frontend :3000 • API :8000 • PostgreSQL :5432.</a:t>
            </a:r>
          </a:p>
        </p:txBody>
      </p:sp>
      <p:pic>
        <p:nvPicPr>
          <p:cNvPr id="16" name="Picture 15">
            <a:extLst>
              <a:ext uri="{FF2B5EF4-FFF2-40B4-BE49-F238E27FC236}">
                <a16:creationId xmlns:a16="http://schemas.microsoft.com/office/drawing/2014/main" id="{5B312B7F-04DD-07E3-759E-8693034EF6BE}"/>
              </a:ext>
            </a:extLst>
          </p:cNvPr>
          <p:cNvPicPr>
            <a:picLocks noChangeAspect="1"/>
          </p:cNvPicPr>
          <p:nvPr/>
        </p:nvPicPr>
        <p:blipFill>
          <a:blip r:embed="rId3"/>
          <a:stretch>
            <a:fillRect/>
          </a:stretch>
        </p:blipFill>
        <p:spPr>
          <a:xfrm>
            <a:off x="6003641" y="93946"/>
            <a:ext cx="5570907" cy="5866356"/>
          </a:xfrm>
          <a:prstGeom prst="rect">
            <a:avLst/>
          </a:prstGeom>
        </p:spPr>
      </p:pic>
    </p:spTree>
    <p:extLst>
      <p:ext uri="{BB962C8B-B14F-4D97-AF65-F5344CB8AC3E}">
        <p14:creationId xmlns:p14="http://schemas.microsoft.com/office/powerpoint/2010/main" val="200353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BCF0B0F-FB5F-46C6-9D63-43BD5A83CA8F}"/>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A0CEE3F5-270D-4F65-8848-3FDFC056BD68}"/>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CONTAINERS</a:t>
            </a:r>
          </a:p>
        </p:txBody>
      </p:sp>
      <p:sp>
        <p:nvSpPr>
          <p:cNvPr id="3" name="Rectangle 2">
            <a:extLst>
              <a:ext uri="{FF2B5EF4-FFF2-40B4-BE49-F238E27FC236}">
                <a16:creationId xmlns:a16="http://schemas.microsoft.com/office/drawing/2014/main" id="{F2BBFCC5-3F2C-4423-ABD8-AA1C4F70900A}"/>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811E6222-D611-4265-9ABF-43D8D1DC206F}"/>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3A204F3F-2EF5-4236-8DF9-CFD7C758CB19}"/>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Three services are running together</a:t>
            </a:r>
          </a:p>
        </p:txBody>
      </p:sp>
      <p:sp>
        <p:nvSpPr>
          <p:cNvPr id="6" name="Rectangle 5">
            <a:extLst>
              <a:ext uri="{FF2B5EF4-FFF2-40B4-BE49-F238E27FC236}">
                <a16:creationId xmlns:a16="http://schemas.microsoft.com/office/drawing/2014/main" id="{0128317B-F3C6-468F-808F-355F3D5CF9D5}"/>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container view confirms the app components are separated and communicating.</a:t>
            </a:r>
          </a:p>
        </p:txBody>
      </p:sp>
      <p:sp>
        <p:nvSpPr>
          <p:cNvPr id="7" name="Rectangle: Rounded Corners 6">
            <a:extLst>
              <a:ext uri="{FF2B5EF4-FFF2-40B4-BE49-F238E27FC236}">
                <a16:creationId xmlns:a16="http://schemas.microsoft.com/office/drawing/2014/main" id="{BBA0DC12-E711-46B3-AE36-9F3B9DA636E1}"/>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BA7DDEC3-BAA2-4CD1-8566-426D3D25DFD6}"/>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13" name="Rectangle: Rounded Corners 12">
            <a:extLst>
              <a:ext uri="{FF2B5EF4-FFF2-40B4-BE49-F238E27FC236}">
                <a16:creationId xmlns:a16="http://schemas.microsoft.com/office/drawing/2014/main" id="{2E79AF51-8370-49B6-9BBE-0B1244151766}"/>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30A53684-E094-4B89-9115-58EAD43BEAD9}"/>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This is the reproducible local demo path used before the AWS deployment.</a:t>
            </a:r>
          </a:p>
        </p:txBody>
      </p:sp>
      <p:pic>
        <p:nvPicPr>
          <p:cNvPr id="16" name="Picture 15">
            <a:extLst>
              <a:ext uri="{FF2B5EF4-FFF2-40B4-BE49-F238E27FC236}">
                <a16:creationId xmlns:a16="http://schemas.microsoft.com/office/drawing/2014/main" id="{1822597A-77C0-9274-EF10-54A9F8C8B802}"/>
              </a:ext>
            </a:extLst>
          </p:cNvPr>
          <p:cNvPicPr>
            <a:picLocks noChangeAspect="1"/>
          </p:cNvPicPr>
          <p:nvPr/>
        </p:nvPicPr>
        <p:blipFill>
          <a:blip r:embed="rId3"/>
          <a:stretch>
            <a:fillRect/>
          </a:stretch>
        </p:blipFill>
        <p:spPr>
          <a:xfrm>
            <a:off x="1310013" y="2995924"/>
            <a:ext cx="9566754" cy="1022728"/>
          </a:xfrm>
          <a:prstGeom prst="rect">
            <a:avLst/>
          </a:prstGeom>
        </p:spPr>
      </p:pic>
    </p:spTree>
    <p:extLst>
      <p:ext uri="{BB962C8B-B14F-4D97-AF65-F5344CB8AC3E}">
        <p14:creationId xmlns:p14="http://schemas.microsoft.com/office/powerpoint/2010/main" val="1446308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7D7E0C8-C12B-4FB1-AC0A-13BEB3C684C1}"/>
              </a:ext>
            </a:extLst>
          </p:cNvPr>
          <p:cNvSpPr>
            <a:spLocks noGrp="1"/>
          </p:cNvSpPr>
          <p:nvPr/>
        </p:nvSpPr>
        <p:spPr>
          <a:xfrm>
            <a:off x="0" y="0"/>
            <a:ext cx="12192000" cy="95250"/>
          </a:xfrm>
          <a:prstGeom prst="rect">
            <a:avLst/>
          </a:prstGeom>
          <a:solidFill>
            <a:srgbClr val="2A9D8F"/>
          </a:solidFill>
          <a:ln w="0">
            <a:noFill/>
            <a:prstDash val="solid"/>
          </a:ln>
        </p:spPr>
      </p:sp>
      <p:sp>
        <p:nvSpPr>
          <p:cNvPr id="3" name="Rectangle 2">
            <a:extLst>
              <a:ext uri="{FF2B5EF4-FFF2-40B4-BE49-F238E27FC236}">
                <a16:creationId xmlns:a16="http://schemas.microsoft.com/office/drawing/2014/main" id="{BF3CB304-20ED-4A42-AD2C-D83089067678}"/>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4639732F-8295-46C5-8131-DD32EF267CB7}"/>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590440CF-30C9-4CA8-81F5-53D7C88C6679}"/>
              </a:ext>
            </a:extLst>
          </p:cNvPr>
          <p:cNvSpPr>
            <a:spLocks noGrp="1"/>
          </p:cNvSpPr>
          <p:nvPr/>
        </p:nvSpPr>
        <p:spPr>
          <a:xfrm>
            <a:off x="609600" y="239689"/>
            <a:ext cx="9199448" cy="529419"/>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Git history records incremental delivery</a:t>
            </a:r>
          </a:p>
        </p:txBody>
      </p:sp>
      <p:sp>
        <p:nvSpPr>
          <p:cNvPr id="6" name="Rectangle 5">
            <a:extLst>
              <a:ext uri="{FF2B5EF4-FFF2-40B4-BE49-F238E27FC236}">
                <a16:creationId xmlns:a16="http://schemas.microsoft.com/office/drawing/2014/main" id="{CFC177BF-A00B-447A-BC7B-0A1300AFB91C}"/>
              </a:ext>
            </a:extLst>
          </p:cNvPr>
          <p:cNvSpPr>
            <a:spLocks noGrp="1"/>
          </p:cNvSpPr>
          <p:nvPr/>
        </p:nvSpPr>
        <p:spPr>
          <a:xfrm>
            <a:off x="609600" y="768519"/>
            <a:ext cx="9653283" cy="328793"/>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50" b="0">
                <a:solidFill>
                  <a:srgbClr val="526579"/>
                </a:solidFill>
                <a:latin typeface="Arial"/>
                <a:ea typeface="Arial"/>
                <a:cs typeface="Arial"/>
              </a:rPr>
              <a:t>The repository history shows the project evolving through reviewable changes.</a:t>
            </a:r>
          </a:p>
        </p:txBody>
      </p:sp>
      <p:sp>
        <p:nvSpPr>
          <p:cNvPr id="13" name="Rectangle: Rounded Corners 12">
            <a:extLst>
              <a:ext uri="{FF2B5EF4-FFF2-40B4-BE49-F238E27FC236}">
                <a16:creationId xmlns:a16="http://schemas.microsoft.com/office/drawing/2014/main" id="{41200513-63BD-4BB2-8883-65A7F74F7747}"/>
              </a:ext>
            </a:extLst>
          </p:cNvPr>
          <p:cNvSpPr>
            <a:spLocks noGrp="1"/>
          </p:cNvSpPr>
          <p:nvPr/>
        </p:nvSpPr>
        <p:spPr>
          <a:xfrm>
            <a:off x="609600" y="5968782"/>
            <a:ext cx="3728581" cy="230167"/>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F6D2EAF9-4E54-4F46-B412-F340F07E47FD}"/>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Source repository: github.com/TanushShoor/devops-project.</a:t>
            </a:r>
          </a:p>
        </p:txBody>
      </p:sp>
      <p:pic>
        <p:nvPicPr>
          <p:cNvPr id="16" name="Picture 15">
            <a:extLst>
              <a:ext uri="{FF2B5EF4-FFF2-40B4-BE49-F238E27FC236}">
                <a16:creationId xmlns:a16="http://schemas.microsoft.com/office/drawing/2014/main" id="{F37DF6F5-BA57-C485-66F5-A51EE37E8755}"/>
              </a:ext>
            </a:extLst>
          </p:cNvPr>
          <p:cNvPicPr>
            <a:picLocks noChangeAspect="1"/>
          </p:cNvPicPr>
          <p:nvPr/>
        </p:nvPicPr>
        <p:blipFill>
          <a:blip r:embed="rId3"/>
          <a:stretch>
            <a:fillRect/>
          </a:stretch>
        </p:blipFill>
        <p:spPr>
          <a:xfrm>
            <a:off x="2266436" y="1142220"/>
            <a:ext cx="7662560" cy="4572313"/>
          </a:xfrm>
          <a:prstGeom prst="rect">
            <a:avLst/>
          </a:prstGeom>
        </p:spPr>
      </p:pic>
    </p:spTree>
    <p:extLst>
      <p:ext uri="{BB962C8B-B14F-4D97-AF65-F5344CB8AC3E}">
        <p14:creationId xmlns:p14="http://schemas.microsoft.com/office/powerpoint/2010/main" val="2118581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E396EAA-F93B-49F5-92C4-6BF4891FD939}"/>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4BE4B912-5967-4AB2-A5CD-B4FAF1F0ADFE}"/>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CI/CD</a:t>
            </a:r>
          </a:p>
        </p:txBody>
      </p:sp>
      <p:sp>
        <p:nvSpPr>
          <p:cNvPr id="3" name="Rectangle 2">
            <a:extLst>
              <a:ext uri="{FF2B5EF4-FFF2-40B4-BE49-F238E27FC236}">
                <a16:creationId xmlns:a16="http://schemas.microsoft.com/office/drawing/2014/main" id="{2E9F8E1F-BAD7-41CE-BF3B-2DC6EB788DEE}"/>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FE5E8F75-5727-4E71-B6F7-011BDD785ED6}"/>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9AF2F51D-7C44-4692-989E-18B74489B924}"/>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GitHub Actions: final pipeline succeeds</a:t>
            </a:r>
          </a:p>
        </p:txBody>
      </p:sp>
      <p:sp>
        <p:nvSpPr>
          <p:cNvPr id="6" name="Rectangle 5">
            <a:extLst>
              <a:ext uri="{FF2B5EF4-FFF2-40B4-BE49-F238E27FC236}">
                <a16:creationId xmlns:a16="http://schemas.microsoft.com/office/drawing/2014/main" id="{0421A7CF-9FE1-4B05-B206-81A33D9361C0}"/>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final captured run is green for the tested commit and build/scan/push stages.</a:t>
            </a:r>
          </a:p>
        </p:txBody>
      </p:sp>
      <p:sp>
        <p:nvSpPr>
          <p:cNvPr id="7" name="Rectangle: Rounded Corners 6">
            <a:extLst>
              <a:ext uri="{FF2B5EF4-FFF2-40B4-BE49-F238E27FC236}">
                <a16:creationId xmlns:a16="http://schemas.microsoft.com/office/drawing/2014/main" id="{877268A1-7489-4ADB-A24D-E8911A0CD891}"/>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13" name="Rectangle: Rounded Corners 12">
            <a:extLst>
              <a:ext uri="{FF2B5EF4-FFF2-40B4-BE49-F238E27FC236}">
                <a16:creationId xmlns:a16="http://schemas.microsoft.com/office/drawing/2014/main" id="{B93131A3-840E-4976-A6D5-C5DDA2834DA7}"/>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225086C1-3F91-49B0-8BA5-022B5110C3EF}"/>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Run #14 • commit 79d3c64 • test job and build-scan-push job succeeded.</a:t>
            </a:r>
          </a:p>
        </p:txBody>
      </p:sp>
      <p:pic>
        <p:nvPicPr>
          <p:cNvPr id="16" name="Picture 15">
            <a:extLst>
              <a:ext uri="{FF2B5EF4-FFF2-40B4-BE49-F238E27FC236}">
                <a16:creationId xmlns:a16="http://schemas.microsoft.com/office/drawing/2014/main" id="{3DBC1806-168C-E34B-F40D-86909DB81AD7}"/>
              </a:ext>
            </a:extLst>
          </p:cNvPr>
          <p:cNvPicPr>
            <a:picLocks noChangeAspect="1"/>
          </p:cNvPicPr>
          <p:nvPr/>
        </p:nvPicPr>
        <p:blipFill>
          <a:blip r:embed="rId3"/>
          <a:stretch>
            <a:fillRect/>
          </a:stretch>
        </p:blipFill>
        <p:spPr>
          <a:xfrm>
            <a:off x="1971563" y="1478507"/>
            <a:ext cx="7975919" cy="4429837"/>
          </a:xfrm>
          <a:prstGeom prst="rect">
            <a:avLst/>
          </a:prstGeom>
        </p:spPr>
      </p:pic>
    </p:spTree>
    <p:extLst>
      <p:ext uri="{BB962C8B-B14F-4D97-AF65-F5344CB8AC3E}">
        <p14:creationId xmlns:p14="http://schemas.microsoft.com/office/powerpoint/2010/main" val="1647574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8BA9616-0100-46E1-8B5E-969FD0DC403F}"/>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9C91330B-F388-4FC3-B7DC-955D0DE88861}"/>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DEVSECOPS</a:t>
            </a:r>
          </a:p>
        </p:txBody>
      </p:sp>
      <p:sp>
        <p:nvSpPr>
          <p:cNvPr id="3" name="Rectangle 2">
            <a:extLst>
              <a:ext uri="{FF2B5EF4-FFF2-40B4-BE49-F238E27FC236}">
                <a16:creationId xmlns:a16="http://schemas.microsoft.com/office/drawing/2014/main" id="{9B96D0E2-36D5-4635-A0D7-05F7D8045C39}"/>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3C30E2F7-0DE6-4EE0-9927-FC09E316EFCE}"/>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53BA5DE4-5B68-412A-A9D0-B8703143FCD8}"/>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Security scan stage in the workflow</a:t>
            </a:r>
          </a:p>
        </p:txBody>
      </p:sp>
      <p:sp>
        <p:nvSpPr>
          <p:cNvPr id="6" name="Rectangle 5">
            <a:extLst>
              <a:ext uri="{FF2B5EF4-FFF2-40B4-BE49-F238E27FC236}">
                <a16:creationId xmlns:a16="http://schemas.microsoft.com/office/drawing/2014/main" id="{6347394A-4F0E-436C-BF01-E5009E0ACD0F}"/>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pipeline scans the built backend and frontend images before publishing.</a:t>
            </a:r>
          </a:p>
        </p:txBody>
      </p:sp>
      <p:sp>
        <p:nvSpPr>
          <p:cNvPr id="7" name="Rectangle: Rounded Corners 6">
            <a:extLst>
              <a:ext uri="{FF2B5EF4-FFF2-40B4-BE49-F238E27FC236}">
                <a16:creationId xmlns:a16="http://schemas.microsoft.com/office/drawing/2014/main" id="{25D891CA-27B0-4F27-81AE-95782258D1EF}"/>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4CD28713-88A2-45B1-BCCF-6CC76125F2F0}"/>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13" name="Rectangle: Rounded Corners 12">
            <a:extLst>
              <a:ext uri="{FF2B5EF4-FFF2-40B4-BE49-F238E27FC236}">
                <a16:creationId xmlns:a16="http://schemas.microsoft.com/office/drawing/2014/main" id="{C149F293-EB80-4891-9B4A-AAFCE47C2DB9}"/>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BB8F719D-78B6-45E3-ACEF-CFA97FA86A40}"/>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The workflow blocks images with unfixed HIGH or CRITICAL findings.</a:t>
            </a:r>
          </a:p>
        </p:txBody>
      </p:sp>
      <p:pic>
        <p:nvPicPr>
          <p:cNvPr id="16" name="Picture 15">
            <a:extLst>
              <a:ext uri="{FF2B5EF4-FFF2-40B4-BE49-F238E27FC236}">
                <a16:creationId xmlns:a16="http://schemas.microsoft.com/office/drawing/2014/main" id="{8910170D-7981-7757-52D7-EAC0BFE862F8}"/>
              </a:ext>
            </a:extLst>
          </p:cNvPr>
          <p:cNvPicPr>
            <a:picLocks noChangeAspect="1"/>
          </p:cNvPicPr>
          <p:nvPr/>
        </p:nvPicPr>
        <p:blipFill>
          <a:blip r:embed="rId3"/>
          <a:stretch>
            <a:fillRect/>
          </a:stretch>
        </p:blipFill>
        <p:spPr>
          <a:xfrm>
            <a:off x="2782969" y="1671851"/>
            <a:ext cx="6620378" cy="4037464"/>
          </a:xfrm>
          <a:prstGeom prst="rect">
            <a:avLst/>
          </a:prstGeom>
        </p:spPr>
      </p:pic>
    </p:spTree>
    <p:extLst>
      <p:ext uri="{BB962C8B-B14F-4D97-AF65-F5344CB8AC3E}">
        <p14:creationId xmlns:p14="http://schemas.microsoft.com/office/powerpoint/2010/main" val="1483221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165DDE6-1828-4D92-B3A0-C3B2CB10E309}"/>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E9057BB6-1DB7-491E-86D7-5B4FA6D29142}"/>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DEVSECOPS</a:t>
            </a:r>
          </a:p>
        </p:txBody>
      </p:sp>
      <p:sp>
        <p:nvSpPr>
          <p:cNvPr id="3" name="Rectangle 2">
            <a:extLst>
              <a:ext uri="{FF2B5EF4-FFF2-40B4-BE49-F238E27FC236}">
                <a16:creationId xmlns:a16="http://schemas.microsoft.com/office/drawing/2014/main" id="{38A151AB-1D0A-410B-B8E7-61374AC654C2}"/>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4DE94455-537E-4B3A-A3D9-D01FA911F43E}"/>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EA726413-9A10-494D-AADC-D708982E264A}"/>
              </a:ext>
            </a:extLst>
          </p:cNvPr>
          <p:cNvSpPr>
            <a:spLocks noGrp="1"/>
          </p:cNvSpPr>
          <p:nvPr/>
        </p:nvSpPr>
        <p:spPr>
          <a:xfrm>
            <a:off x="609600" y="2827077"/>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Backend image scan result</a:t>
            </a:r>
          </a:p>
        </p:txBody>
      </p:sp>
      <p:sp>
        <p:nvSpPr>
          <p:cNvPr id="6" name="Rectangle 5">
            <a:extLst>
              <a:ext uri="{FF2B5EF4-FFF2-40B4-BE49-F238E27FC236}">
                <a16:creationId xmlns:a16="http://schemas.microsoft.com/office/drawing/2014/main" id="{2934A21C-30A7-4EA6-ACC1-F6CFFC1F6D6D}"/>
              </a:ext>
            </a:extLst>
          </p:cNvPr>
          <p:cNvSpPr>
            <a:spLocks noGrp="1"/>
          </p:cNvSpPr>
          <p:nvPr/>
        </p:nvSpPr>
        <p:spPr>
          <a:xfrm>
            <a:off x="609600" y="3320387"/>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Trivy reports zero vulnerabilities for the backend image in this captured run.</a:t>
            </a:r>
          </a:p>
        </p:txBody>
      </p:sp>
      <p:sp>
        <p:nvSpPr>
          <p:cNvPr id="13" name="Rectangle: Rounded Corners 12">
            <a:extLst>
              <a:ext uri="{FF2B5EF4-FFF2-40B4-BE49-F238E27FC236}">
                <a16:creationId xmlns:a16="http://schemas.microsoft.com/office/drawing/2014/main" id="{D3371BF0-97ED-47BE-8038-FC75C95CFD31}"/>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32D38205-7EC4-4151-B5DA-068FBD84C345}"/>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The scan applies to the exact image produced for the recorded commit.</a:t>
            </a:r>
          </a:p>
        </p:txBody>
      </p:sp>
      <p:pic>
        <p:nvPicPr>
          <p:cNvPr id="16" name="Picture 15">
            <a:extLst>
              <a:ext uri="{FF2B5EF4-FFF2-40B4-BE49-F238E27FC236}">
                <a16:creationId xmlns:a16="http://schemas.microsoft.com/office/drawing/2014/main" id="{8C282286-39BA-5DD4-BF4B-0027A4A75CB2}"/>
              </a:ext>
            </a:extLst>
          </p:cNvPr>
          <p:cNvPicPr>
            <a:picLocks noChangeAspect="1"/>
          </p:cNvPicPr>
          <p:nvPr/>
        </p:nvPicPr>
        <p:blipFill>
          <a:blip r:embed="rId3"/>
          <a:srcRect t="168" r="15208"/>
          <a:stretch>
            <a:fillRect/>
          </a:stretch>
        </p:blipFill>
        <p:spPr>
          <a:xfrm>
            <a:off x="5951993" y="85299"/>
            <a:ext cx="6223174" cy="6772706"/>
          </a:xfrm>
          <a:prstGeom prst="rect">
            <a:avLst/>
          </a:prstGeom>
        </p:spPr>
      </p:pic>
    </p:spTree>
    <p:extLst>
      <p:ext uri="{BB962C8B-B14F-4D97-AF65-F5344CB8AC3E}">
        <p14:creationId xmlns:p14="http://schemas.microsoft.com/office/powerpoint/2010/main" val="335362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E0A7182-1519-4D75-825C-ED85BC98BDD5}"/>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5D18E55E-EE2E-4725-8A6D-641D17B3FBF8}"/>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DEVSECOPS</a:t>
            </a:r>
          </a:p>
        </p:txBody>
      </p:sp>
      <p:sp>
        <p:nvSpPr>
          <p:cNvPr id="3" name="Rectangle 2">
            <a:extLst>
              <a:ext uri="{FF2B5EF4-FFF2-40B4-BE49-F238E27FC236}">
                <a16:creationId xmlns:a16="http://schemas.microsoft.com/office/drawing/2014/main" id="{329E5934-C7F4-4D93-8695-DE071AD51D2B}"/>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B4531D19-F0BF-4252-9339-0A744F561EE3}"/>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D6E5CE23-4278-4B7C-826A-C9113A953242}"/>
              </a:ext>
            </a:extLst>
          </p:cNvPr>
          <p:cNvSpPr>
            <a:spLocks noGrp="1"/>
          </p:cNvSpPr>
          <p:nvPr/>
        </p:nvSpPr>
        <p:spPr>
          <a:xfrm>
            <a:off x="609600" y="2303913"/>
            <a:ext cx="4171666" cy="1268673"/>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Frontend image scan result</a:t>
            </a:r>
          </a:p>
        </p:txBody>
      </p:sp>
      <p:sp>
        <p:nvSpPr>
          <p:cNvPr id="6" name="Rectangle 5">
            <a:extLst>
              <a:ext uri="{FF2B5EF4-FFF2-40B4-BE49-F238E27FC236}">
                <a16:creationId xmlns:a16="http://schemas.microsoft.com/office/drawing/2014/main" id="{6AF351B8-E335-4ABF-96EC-BF2205A86E15}"/>
              </a:ext>
            </a:extLst>
          </p:cNvPr>
          <p:cNvSpPr>
            <a:spLocks noGrp="1"/>
          </p:cNvSpPr>
          <p:nvPr/>
        </p:nvSpPr>
        <p:spPr>
          <a:xfrm>
            <a:off x="609600" y="367864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Trivy reports zero vulnerabilities for the frontend image in this captured run.</a:t>
            </a:r>
          </a:p>
        </p:txBody>
      </p:sp>
      <p:sp>
        <p:nvSpPr>
          <p:cNvPr id="13" name="Rectangle: Rounded Corners 12">
            <a:extLst>
              <a:ext uri="{FF2B5EF4-FFF2-40B4-BE49-F238E27FC236}">
                <a16:creationId xmlns:a16="http://schemas.microsoft.com/office/drawing/2014/main" id="{C389AB0E-A668-4D52-8A24-009A867AE016}"/>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19DA7BEE-4ADC-4B98-9DD2-6F7BDD3888A0}"/>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Both application images passed the configured severity gate.</a:t>
            </a:r>
          </a:p>
        </p:txBody>
      </p:sp>
      <p:pic>
        <p:nvPicPr>
          <p:cNvPr id="16" name="Picture 15">
            <a:extLst>
              <a:ext uri="{FF2B5EF4-FFF2-40B4-BE49-F238E27FC236}">
                <a16:creationId xmlns:a16="http://schemas.microsoft.com/office/drawing/2014/main" id="{5DB5AD73-79E7-9368-8245-472390090C46}"/>
              </a:ext>
            </a:extLst>
          </p:cNvPr>
          <p:cNvPicPr>
            <a:picLocks noChangeAspect="1"/>
          </p:cNvPicPr>
          <p:nvPr/>
        </p:nvPicPr>
        <p:blipFill>
          <a:blip r:embed="rId3"/>
          <a:srcRect l="1426" t="353" r="6415" b="3173"/>
          <a:stretch>
            <a:fillRect/>
          </a:stretch>
        </p:blipFill>
        <p:spPr>
          <a:xfrm>
            <a:off x="4442898" y="51179"/>
            <a:ext cx="7747395" cy="6824086"/>
          </a:xfrm>
          <a:prstGeom prst="rect">
            <a:avLst/>
          </a:prstGeom>
        </p:spPr>
      </p:pic>
    </p:spTree>
    <p:extLst>
      <p:ext uri="{BB962C8B-B14F-4D97-AF65-F5344CB8AC3E}">
        <p14:creationId xmlns:p14="http://schemas.microsoft.com/office/powerpoint/2010/main" val="738223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5399A03-7FA4-4C19-B701-26C1E55C67D5}"/>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AB91BF76-4AB2-4132-9B27-6C2F4CBFE459}"/>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ARTIFACTS</a:t>
            </a:r>
          </a:p>
        </p:txBody>
      </p:sp>
      <p:sp>
        <p:nvSpPr>
          <p:cNvPr id="3" name="Rectangle 2">
            <a:extLst>
              <a:ext uri="{FF2B5EF4-FFF2-40B4-BE49-F238E27FC236}">
                <a16:creationId xmlns:a16="http://schemas.microsoft.com/office/drawing/2014/main" id="{61CD087F-0284-4235-B742-DB5F7757E7E2}"/>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F025110A-E13D-4E30-8401-7F9F5B774C05}"/>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9AF7A5F3-9A1A-4C3F-93E3-2416AAEAC1A4}"/>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Immutable images published to GHCR</a:t>
            </a:r>
          </a:p>
        </p:txBody>
      </p:sp>
      <p:sp>
        <p:nvSpPr>
          <p:cNvPr id="6" name="Rectangle 5">
            <a:extLst>
              <a:ext uri="{FF2B5EF4-FFF2-40B4-BE49-F238E27FC236}">
                <a16:creationId xmlns:a16="http://schemas.microsoft.com/office/drawing/2014/main" id="{97DEE0B7-1994-4956-B7E6-4552FB80584C}"/>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Both services are published under separate package names and tagged with the full commit SHA.</a:t>
            </a:r>
          </a:p>
        </p:txBody>
      </p:sp>
      <p:sp>
        <p:nvSpPr>
          <p:cNvPr id="7" name="Rectangle: Rounded Corners 6">
            <a:extLst>
              <a:ext uri="{FF2B5EF4-FFF2-40B4-BE49-F238E27FC236}">
                <a16:creationId xmlns:a16="http://schemas.microsoft.com/office/drawing/2014/main" id="{1BFF26A8-755E-4B02-B36D-F3D9F56D3BAD}"/>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13" name="Rectangle: Rounded Corners 12">
            <a:extLst>
              <a:ext uri="{FF2B5EF4-FFF2-40B4-BE49-F238E27FC236}">
                <a16:creationId xmlns:a16="http://schemas.microsoft.com/office/drawing/2014/main" id="{63F55C93-8A31-440B-A326-EA8C4E38E702}"/>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EE081BC3-1F82-4758-82E7-86134BA740A7}"/>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The SHA ties a deployed image back to a specific source revision.</a:t>
            </a:r>
          </a:p>
        </p:txBody>
      </p:sp>
      <p:pic>
        <p:nvPicPr>
          <p:cNvPr id="16" name="Picture 15">
            <a:extLst>
              <a:ext uri="{FF2B5EF4-FFF2-40B4-BE49-F238E27FC236}">
                <a16:creationId xmlns:a16="http://schemas.microsoft.com/office/drawing/2014/main" id="{199A18EC-EBAB-ADC1-F53E-4C6631C9A2AA}"/>
              </a:ext>
            </a:extLst>
          </p:cNvPr>
          <p:cNvPicPr>
            <a:picLocks noChangeAspect="1"/>
          </p:cNvPicPr>
          <p:nvPr/>
        </p:nvPicPr>
        <p:blipFill>
          <a:blip r:embed="rId3"/>
          <a:stretch>
            <a:fillRect/>
          </a:stretch>
        </p:blipFill>
        <p:spPr>
          <a:xfrm>
            <a:off x="2439481" y="1478507"/>
            <a:ext cx="7398337" cy="4390030"/>
          </a:xfrm>
          <a:prstGeom prst="rect">
            <a:avLst/>
          </a:prstGeom>
        </p:spPr>
      </p:pic>
    </p:spTree>
    <p:extLst>
      <p:ext uri="{BB962C8B-B14F-4D97-AF65-F5344CB8AC3E}">
        <p14:creationId xmlns:p14="http://schemas.microsoft.com/office/powerpoint/2010/main" val="1483224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B6A3FFC-0AE0-434A-8C80-F2A6EC7DB1D4}"/>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4DF5B83B-1B4D-4647-BA5C-E66AE8E7ED41}"/>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INFRASTRUCTURE</a:t>
            </a:r>
          </a:p>
        </p:txBody>
      </p:sp>
      <p:sp>
        <p:nvSpPr>
          <p:cNvPr id="3" name="Rectangle 2">
            <a:extLst>
              <a:ext uri="{FF2B5EF4-FFF2-40B4-BE49-F238E27FC236}">
                <a16:creationId xmlns:a16="http://schemas.microsoft.com/office/drawing/2014/main" id="{33327F5C-7AD3-46FA-A85D-102DE8C18BE6}"/>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0E2DFF2C-9722-4986-B510-D8677C2250AE}"/>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A5A04591-363C-4D57-B782-366F1857E2C0}"/>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Terraform plan check after provisioning</a:t>
            </a:r>
          </a:p>
        </p:txBody>
      </p:sp>
      <p:sp>
        <p:nvSpPr>
          <p:cNvPr id="6" name="Rectangle 5">
            <a:extLst>
              <a:ext uri="{FF2B5EF4-FFF2-40B4-BE49-F238E27FC236}">
                <a16:creationId xmlns:a16="http://schemas.microsoft.com/office/drawing/2014/main" id="{98722D99-4136-4D1D-8395-86B16B5340DC}"/>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This screenshot is a post-apply plan check and reports no remaining changes.</a:t>
            </a:r>
          </a:p>
        </p:txBody>
      </p:sp>
      <p:sp>
        <p:nvSpPr>
          <p:cNvPr id="7" name="Rectangle: Rounded Corners 6">
            <a:extLst>
              <a:ext uri="{FF2B5EF4-FFF2-40B4-BE49-F238E27FC236}">
                <a16:creationId xmlns:a16="http://schemas.microsoft.com/office/drawing/2014/main" id="{6CD5384D-5BB3-4D73-993E-CEF7DA1AEDBC}"/>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96C088E6-50A4-4461-9F4E-4B8DBA47A2D8}"/>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13" name="Rectangle: Rounded Corners 12">
            <a:extLst>
              <a:ext uri="{FF2B5EF4-FFF2-40B4-BE49-F238E27FC236}">
                <a16:creationId xmlns:a16="http://schemas.microsoft.com/office/drawing/2014/main" id="{7D6B0E48-4989-4CF8-ADF8-E0D69FED3A44}"/>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E0F7C849-8989-462A-AAE5-3B7174435BB5}"/>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The original reviewed plan was 4 to add; that initial non-empty plan screenshot is not in the evidence folder.</a:t>
            </a:r>
          </a:p>
        </p:txBody>
      </p:sp>
      <p:pic>
        <p:nvPicPr>
          <p:cNvPr id="10" name="Picture 9" descr="A screen shot of a computer screen&#10;&#10;AI-generated content may be incorrect.">
            <a:extLst>
              <a:ext uri="{FF2B5EF4-FFF2-40B4-BE49-F238E27FC236}">
                <a16:creationId xmlns:a16="http://schemas.microsoft.com/office/drawing/2014/main" id="{13858335-EF1E-8384-4885-5FA4B7F984A7}"/>
              </a:ext>
            </a:extLst>
          </p:cNvPr>
          <p:cNvPicPr>
            <a:picLocks noChangeAspect="1"/>
          </p:cNvPicPr>
          <p:nvPr/>
        </p:nvPicPr>
        <p:blipFill>
          <a:blip r:embed="rId3"/>
          <a:stretch>
            <a:fillRect/>
          </a:stretch>
        </p:blipFill>
        <p:spPr>
          <a:xfrm>
            <a:off x="2539472" y="1478508"/>
            <a:ext cx="6396548" cy="4259240"/>
          </a:xfrm>
          <a:prstGeom prst="rect">
            <a:avLst/>
          </a:prstGeom>
        </p:spPr>
      </p:pic>
    </p:spTree>
    <p:extLst>
      <p:ext uri="{BB962C8B-B14F-4D97-AF65-F5344CB8AC3E}">
        <p14:creationId xmlns:p14="http://schemas.microsoft.com/office/powerpoint/2010/main" val="1918698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4DAC199-FF71-4084-9613-9D2D7E06A7B4}"/>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8A644B97-D971-49F1-8106-64137FC6F59E}"/>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INFRASTRUCTURE</a:t>
            </a:r>
          </a:p>
        </p:txBody>
      </p:sp>
      <p:sp>
        <p:nvSpPr>
          <p:cNvPr id="3" name="Rectangle 2">
            <a:extLst>
              <a:ext uri="{FF2B5EF4-FFF2-40B4-BE49-F238E27FC236}">
                <a16:creationId xmlns:a16="http://schemas.microsoft.com/office/drawing/2014/main" id="{2311E7D2-1425-41E0-A6AE-68DDABE1726D}"/>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99AB4CA2-D0AB-4F09-9EF1-848CBE7D0D92}"/>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A0FA3FCF-0901-4561-BA8B-CBACDFEA2C75}"/>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A second no-change Terraform check</a:t>
            </a:r>
          </a:p>
        </p:txBody>
      </p:sp>
      <p:sp>
        <p:nvSpPr>
          <p:cNvPr id="6" name="Rectangle 5">
            <a:extLst>
              <a:ext uri="{FF2B5EF4-FFF2-40B4-BE49-F238E27FC236}">
                <a16:creationId xmlns:a16="http://schemas.microsoft.com/office/drawing/2014/main" id="{2C98DB0A-B59D-4531-B494-60E132EFF708}"/>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additional plan capture also confirms the provisioned configuration was stable.</a:t>
            </a:r>
          </a:p>
        </p:txBody>
      </p:sp>
      <p:sp>
        <p:nvSpPr>
          <p:cNvPr id="7" name="Rectangle: Rounded Corners 6">
            <a:extLst>
              <a:ext uri="{FF2B5EF4-FFF2-40B4-BE49-F238E27FC236}">
                <a16:creationId xmlns:a16="http://schemas.microsoft.com/office/drawing/2014/main" id="{DA5DD1B4-C37B-49C5-A7FD-B7A9A7B7BB02}"/>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E46B9548-6EC2-4260-ACAB-88BCC82C9708}"/>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9" name="Rectangle: Rounded Corners 8">
            <a:extLst>
              <a:ext uri="{FF2B5EF4-FFF2-40B4-BE49-F238E27FC236}">
                <a16:creationId xmlns:a16="http://schemas.microsoft.com/office/drawing/2014/main" id="{42A0F1AA-058D-4BFE-876C-4FB0FE3C9406}"/>
              </a:ext>
            </a:extLst>
          </p:cNvPr>
          <p:cNvSpPr>
            <a:spLocks noGrp="1"/>
          </p:cNvSpPr>
          <p:nvPr/>
        </p:nvSpPr>
        <p:spPr>
          <a:xfrm>
            <a:off x="1095375" y="2124075"/>
            <a:ext cx="10001250" cy="3133725"/>
          </a:xfrm>
          <a:prstGeom prst="roundRect">
            <a:avLst>
              <a:gd name="adj" fmla="val 2432"/>
            </a:avLst>
          </a:prstGeom>
          <a:solidFill>
            <a:srgbClr val="EFF5F8"/>
          </a:solidFill>
          <a:ln w="9525">
            <a:solidFill>
              <a:srgbClr val="B7C8D6"/>
            </a:solidFill>
            <a:prstDash val="solid"/>
          </a:ln>
        </p:spPr>
      </p:sp>
      <p:sp>
        <p:nvSpPr>
          <p:cNvPr id="13" name="Rectangle: Rounded Corners 12">
            <a:extLst>
              <a:ext uri="{FF2B5EF4-FFF2-40B4-BE49-F238E27FC236}">
                <a16:creationId xmlns:a16="http://schemas.microsoft.com/office/drawing/2014/main" id="{EF4CB9AA-37DD-4A8F-96DD-983D3E2A9D0B}"/>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D7692F0B-C8B3-47AC-9BD6-BC94F40EAB96}"/>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Do not interpret this screenshot as the original create plan; it was taken after deployment.</a:t>
            </a:r>
          </a:p>
        </p:txBody>
      </p:sp>
      <p:pic>
        <p:nvPicPr>
          <p:cNvPr id="10" name="Picture 9" descr="A screenshot of a computer program&#10;&#10;AI-generated content may be incorrect.">
            <a:extLst>
              <a:ext uri="{FF2B5EF4-FFF2-40B4-BE49-F238E27FC236}">
                <a16:creationId xmlns:a16="http://schemas.microsoft.com/office/drawing/2014/main" id="{1A632EB8-7878-F38C-1EC9-29BEE694E184}"/>
              </a:ext>
            </a:extLst>
          </p:cNvPr>
          <p:cNvPicPr>
            <a:picLocks noChangeAspect="1"/>
          </p:cNvPicPr>
          <p:nvPr/>
        </p:nvPicPr>
        <p:blipFill>
          <a:blip r:embed="rId3"/>
          <a:stretch>
            <a:fillRect/>
          </a:stretch>
        </p:blipFill>
        <p:spPr>
          <a:xfrm>
            <a:off x="2443066" y="1535373"/>
            <a:ext cx="6794077" cy="4310419"/>
          </a:xfrm>
          <a:prstGeom prst="rect">
            <a:avLst/>
          </a:prstGeom>
        </p:spPr>
      </p:pic>
    </p:spTree>
    <p:extLst>
      <p:ext uri="{BB962C8B-B14F-4D97-AF65-F5344CB8AC3E}">
        <p14:creationId xmlns:p14="http://schemas.microsoft.com/office/powerpoint/2010/main" val="1687653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2DB0503-BEF4-4A40-959E-A91C99951F71}"/>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8972EEC3-1458-43C3-A805-31125D5773A6}"/>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AWS</a:t>
            </a:r>
          </a:p>
        </p:txBody>
      </p:sp>
      <p:sp>
        <p:nvSpPr>
          <p:cNvPr id="3" name="Rectangle 2">
            <a:extLst>
              <a:ext uri="{FF2B5EF4-FFF2-40B4-BE49-F238E27FC236}">
                <a16:creationId xmlns:a16="http://schemas.microsoft.com/office/drawing/2014/main" id="{0A42DF33-3CDF-423E-903A-78CA602D7A69}"/>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EDF95FD3-23F3-4AA5-AFB0-3FD0AD3D1EB5}"/>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60FC39D8-5A25-461C-A54E-398A99EFD580}"/>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AWS network and EKS cluster were live</a:t>
            </a:r>
          </a:p>
        </p:txBody>
      </p:sp>
      <p:sp>
        <p:nvSpPr>
          <p:cNvPr id="6" name="Rectangle 5">
            <a:extLst>
              <a:ext uri="{FF2B5EF4-FFF2-40B4-BE49-F238E27FC236}">
                <a16:creationId xmlns:a16="http://schemas.microsoft.com/office/drawing/2014/main" id="{01EB6FA0-640F-44C9-9CBE-7ABF4F38A081}"/>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console evidence shows the VPC and EKS cluster available in ap-southeast-2.</a:t>
            </a:r>
          </a:p>
        </p:txBody>
      </p:sp>
      <p:sp>
        <p:nvSpPr>
          <p:cNvPr id="7" name="Rectangle: Rounded Corners 6">
            <a:extLst>
              <a:ext uri="{FF2B5EF4-FFF2-40B4-BE49-F238E27FC236}">
                <a16:creationId xmlns:a16="http://schemas.microsoft.com/office/drawing/2014/main" id="{F0BDA12D-131A-439A-B4FA-CF913A246B3C}"/>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6A4A1C75-7282-4D9A-8E3F-81A0C7F8A032}"/>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10" name="Rectangle 9">
            <a:extLst>
              <a:ext uri="{FF2B5EF4-FFF2-40B4-BE49-F238E27FC236}">
                <a16:creationId xmlns:a16="http://schemas.microsoft.com/office/drawing/2014/main" id="{4EBDC1DB-CF25-4C8B-B6C3-E56BB8FA1FD0}"/>
              </a:ext>
            </a:extLst>
          </p:cNvPr>
          <p:cNvSpPr>
            <a:spLocks noGrp="1"/>
          </p:cNvSpPr>
          <p:nvPr/>
        </p:nvSpPr>
        <p:spPr>
          <a:xfrm>
            <a:off x="1381125" y="2962275"/>
            <a:ext cx="9429750" cy="419100"/>
          </a:xfrm>
          <a:prstGeom prst="rect">
            <a:avLst/>
          </a:prstGeom>
          <a:noFill/>
          <a:ln w="0">
            <a:noFill/>
            <a:prstDash val="solid"/>
          </a:ln>
        </p:spPr>
        <p:txBody>
          <a:bodyPr lIns="0" tIns="0" rIns="0" bIns="0" anchor="ctr">
            <a:normAutofit/>
          </a:bodyPr>
          <a:lstStyle>
            <a:defPPr algn="ctr">
              <a:defRPr sz="1875" b="1">
                <a:solidFill>
                  <a:srgbClr val="1C5D99"/>
                </a:solidFill>
                <a:latin typeface="Arial"/>
                <a:ea typeface="Arial"/>
                <a:cs typeface="Arial"/>
              </a:defRPr>
            </a:defPPr>
          </a:lstStyle>
          <a:p>
            <a:pPr algn="ctr">
              <a:defRPr sz="1875" b="1">
                <a:solidFill>
                  <a:srgbClr val="1C5D99"/>
                </a:solidFill>
                <a:latin typeface="Arial"/>
                <a:ea typeface="Arial"/>
                <a:cs typeface="Arial"/>
              </a:defRPr>
            </a:pPr>
            <a:r>
              <a:rPr sz="1875" b="1">
                <a:solidFill>
                  <a:srgbClr val="1C5D99"/>
                </a:solidFill>
                <a:latin typeface="Arial"/>
                <a:ea typeface="Arial"/>
                <a:cs typeface="Arial"/>
              </a:rPr>
              <a:t>INSERT SCREENSHOT HERE</a:t>
            </a:r>
          </a:p>
        </p:txBody>
      </p:sp>
      <p:sp>
        <p:nvSpPr>
          <p:cNvPr id="11" name="Rectangle 10">
            <a:extLst>
              <a:ext uri="{FF2B5EF4-FFF2-40B4-BE49-F238E27FC236}">
                <a16:creationId xmlns:a16="http://schemas.microsoft.com/office/drawing/2014/main" id="{9E441AA2-63E1-420F-B218-E2B19C0E1676}"/>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10-aws-vpc-eks.png</a:t>
            </a:r>
          </a:p>
        </p:txBody>
      </p:sp>
      <p:sp>
        <p:nvSpPr>
          <p:cNvPr id="13" name="Rectangle: Rounded Corners 12">
            <a:extLst>
              <a:ext uri="{FF2B5EF4-FFF2-40B4-BE49-F238E27FC236}">
                <a16:creationId xmlns:a16="http://schemas.microsoft.com/office/drawing/2014/main" id="{F96FF22F-1840-42E9-B687-CC6FA2A96736}"/>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8FBC3DDB-51A4-433C-A18A-FA02914E866F}"/>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This was a temporary student demo environment and has since been destroyed.</a:t>
            </a:r>
          </a:p>
        </p:txBody>
      </p:sp>
      <p:pic>
        <p:nvPicPr>
          <p:cNvPr id="9" name="Picture 8" descr="Screens screenshot of a computer&#10;&#10;AI-generated content may be incorrect.">
            <a:extLst>
              <a:ext uri="{FF2B5EF4-FFF2-40B4-BE49-F238E27FC236}">
                <a16:creationId xmlns:a16="http://schemas.microsoft.com/office/drawing/2014/main" id="{03E990EF-F013-DDBC-D5B6-888D5DE20972}"/>
              </a:ext>
            </a:extLst>
          </p:cNvPr>
          <p:cNvPicPr>
            <a:picLocks noChangeAspect="1"/>
          </p:cNvPicPr>
          <p:nvPr/>
        </p:nvPicPr>
        <p:blipFill>
          <a:blip r:embed="rId3"/>
          <a:stretch>
            <a:fillRect/>
          </a:stretch>
        </p:blipFill>
        <p:spPr>
          <a:xfrm>
            <a:off x="2284985" y="1489880"/>
            <a:ext cx="7400252" cy="4281986"/>
          </a:xfrm>
          <a:prstGeom prst="rect">
            <a:avLst/>
          </a:prstGeom>
        </p:spPr>
      </p:pic>
    </p:spTree>
    <p:extLst>
      <p:ext uri="{BB962C8B-B14F-4D97-AF65-F5344CB8AC3E}">
        <p14:creationId xmlns:p14="http://schemas.microsoft.com/office/powerpoint/2010/main" val="1812452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5239843-527F-4C60-BD8C-7E40F3D50128}"/>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3B92A80E-E07C-4DC6-9458-54EAE3EC37BF}"/>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AWS</a:t>
            </a:r>
          </a:p>
        </p:txBody>
      </p:sp>
      <p:sp>
        <p:nvSpPr>
          <p:cNvPr id="3" name="Rectangle 2">
            <a:extLst>
              <a:ext uri="{FF2B5EF4-FFF2-40B4-BE49-F238E27FC236}">
                <a16:creationId xmlns:a16="http://schemas.microsoft.com/office/drawing/2014/main" id="{6ACBBFD5-E0C7-4BA0-B41E-AE88EC583A07}"/>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AB8EEE38-8318-4667-B037-02260463151E}"/>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E29F8FA4-89D0-4211-9B5B-05DBF8E1D2CC}"/>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VPC layout: public and private subnets</a:t>
            </a:r>
          </a:p>
        </p:txBody>
      </p:sp>
      <p:sp>
        <p:nvSpPr>
          <p:cNvPr id="6" name="Rectangle 5">
            <a:extLst>
              <a:ext uri="{FF2B5EF4-FFF2-40B4-BE49-F238E27FC236}">
                <a16:creationId xmlns:a16="http://schemas.microsoft.com/office/drawing/2014/main" id="{649CC45C-EE2D-49FF-B5BA-D0CF6AE792AC}"/>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network layer contains two public and two private subnets with a NAT gateway.</a:t>
            </a:r>
          </a:p>
        </p:txBody>
      </p:sp>
      <p:sp>
        <p:nvSpPr>
          <p:cNvPr id="7" name="Rectangle: Rounded Corners 6">
            <a:extLst>
              <a:ext uri="{FF2B5EF4-FFF2-40B4-BE49-F238E27FC236}">
                <a16:creationId xmlns:a16="http://schemas.microsoft.com/office/drawing/2014/main" id="{92335439-DD4E-4CB5-BC93-F9688260DB42}"/>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A4B86579-41EB-4F98-B4B6-21B40BF463C9}"/>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9" name="Rectangle: Rounded Corners 8">
            <a:extLst>
              <a:ext uri="{FF2B5EF4-FFF2-40B4-BE49-F238E27FC236}">
                <a16:creationId xmlns:a16="http://schemas.microsoft.com/office/drawing/2014/main" id="{8CB10B68-B599-4009-A460-5255EB456D6A}"/>
              </a:ext>
            </a:extLst>
          </p:cNvPr>
          <p:cNvSpPr>
            <a:spLocks noGrp="1"/>
          </p:cNvSpPr>
          <p:nvPr/>
        </p:nvSpPr>
        <p:spPr>
          <a:xfrm>
            <a:off x="1095375" y="2124075"/>
            <a:ext cx="10001250" cy="3133725"/>
          </a:xfrm>
          <a:prstGeom prst="roundRect">
            <a:avLst>
              <a:gd name="adj" fmla="val 2432"/>
            </a:avLst>
          </a:prstGeom>
          <a:solidFill>
            <a:srgbClr val="EFF5F8"/>
          </a:solidFill>
          <a:ln w="9525">
            <a:solidFill>
              <a:srgbClr val="B7C8D6"/>
            </a:solidFill>
            <a:prstDash val="solid"/>
          </a:ln>
        </p:spPr>
      </p:sp>
      <p:sp>
        <p:nvSpPr>
          <p:cNvPr id="10" name="Rectangle 9">
            <a:extLst>
              <a:ext uri="{FF2B5EF4-FFF2-40B4-BE49-F238E27FC236}">
                <a16:creationId xmlns:a16="http://schemas.microsoft.com/office/drawing/2014/main" id="{642F12B7-6F9C-4F1F-8DAA-E3A007A9B7AD}"/>
              </a:ext>
            </a:extLst>
          </p:cNvPr>
          <p:cNvSpPr>
            <a:spLocks noGrp="1"/>
          </p:cNvSpPr>
          <p:nvPr/>
        </p:nvSpPr>
        <p:spPr>
          <a:xfrm>
            <a:off x="1381125" y="2962275"/>
            <a:ext cx="9429750" cy="419100"/>
          </a:xfrm>
          <a:prstGeom prst="rect">
            <a:avLst/>
          </a:prstGeom>
          <a:noFill/>
          <a:ln w="0">
            <a:noFill/>
            <a:prstDash val="solid"/>
          </a:ln>
        </p:spPr>
        <p:txBody>
          <a:bodyPr lIns="0" tIns="0" rIns="0" bIns="0" anchor="ctr">
            <a:normAutofit/>
          </a:bodyPr>
          <a:lstStyle>
            <a:defPPr algn="ctr">
              <a:defRPr sz="1875" b="1">
                <a:solidFill>
                  <a:srgbClr val="1C5D99"/>
                </a:solidFill>
                <a:latin typeface="Arial"/>
                <a:ea typeface="Arial"/>
                <a:cs typeface="Arial"/>
              </a:defRPr>
            </a:defPPr>
          </a:lstStyle>
          <a:p>
            <a:pPr algn="ctr">
              <a:defRPr sz="1875" b="1">
                <a:solidFill>
                  <a:srgbClr val="1C5D99"/>
                </a:solidFill>
                <a:latin typeface="Arial"/>
                <a:ea typeface="Arial"/>
                <a:cs typeface="Arial"/>
              </a:defRPr>
            </a:pPr>
            <a:r>
              <a:rPr sz="1875" b="1">
                <a:solidFill>
                  <a:srgbClr val="1C5D99"/>
                </a:solidFill>
                <a:latin typeface="Arial"/>
                <a:ea typeface="Arial"/>
                <a:cs typeface="Arial"/>
              </a:rPr>
              <a:t>INSERT SCREENSHOT HERE</a:t>
            </a:r>
          </a:p>
        </p:txBody>
      </p:sp>
      <p:sp>
        <p:nvSpPr>
          <p:cNvPr id="11" name="Rectangle 10">
            <a:extLst>
              <a:ext uri="{FF2B5EF4-FFF2-40B4-BE49-F238E27FC236}">
                <a16:creationId xmlns:a16="http://schemas.microsoft.com/office/drawing/2014/main" id="{E818B6F7-0B52-49DD-97F7-6DE90B9843C3}"/>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vpc.png</a:t>
            </a:r>
          </a:p>
        </p:txBody>
      </p:sp>
      <p:sp>
        <p:nvSpPr>
          <p:cNvPr id="12" name="Rectangle 11">
            <a:extLst>
              <a:ext uri="{FF2B5EF4-FFF2-40B4-BE49-F238E27FC236}">
                <a16:creationId xmlns:a16="http://schemas.microsoft.com/office/drawing/2014/main" id="{D8B0CA9E-95AE-41A1-A9E2-A6747FE85343}"/>
              </a:ext>
            </a:extLst>
          </p:cNvPr>
          <p:cNvSpPr>
            <a:spLocks noGrp="1"/>
          </p:cNvSpPr>
          <p:nvPr/>
        </p:nvSpPr>
        <p:spPr>
          <a:xfrm>
            <a:off x="1381125" y="3971925"/>
            <a:ext cx="9429750" cy="304800"/>
          </a:xfrm>
          <a:prstGeom prst="rect">
            <a:avLst/>
          </a:prstGeom>
          <a:noFill/>
          <a:ln w="0">
            <a:noFill/>
            <a:prstDash val="solid"/>
          </a:ln>
        </p:spPr>
        <p:txBody>
          <a:bodyPr lIns="0" tIns="0" rIns="0" bIns="0" anchor="ctr">
            <a:normAutofit/>
          </a:bodyPr>
          <a:lstStyle>
            <a:defPPr algn="ctr">
              <a:defRPr sz="1125" b="0">
                <a:solidFill>
                  <a:srgbClr val="526579"/>
                </a:solidFill>
                <a:latin typeface="Arial"/>
                <a:ea typeface="Arial"/>
                <a:cs typeface="Arial"/>
              </a:defRPr>
            </a:defPPr>
          </a:lstStyle>
          <a:p>
            <a:pPr algn="ctr">
              <a:defRPr sz="1125" b="0">
                <a:solidFill>
                  <a:srgbClr val="526579"/>
                </a:solidFill>
                <a:latin typeface="Arial"/>
                <a:ea typeface="Arial"/>
                <a:cs typeface="Arial"/>
              </a:defRPr>
            </a:pPr>
            <a:r>
              <a:rPr sz="1125" b="0">
                <a:solidFill>
                  <a:srgbClr val="526579"/>
                </a:solidFill>
                <a:latin typeface="Arial"/>
                <a:ea typeface="Arial"/>
                <a:cs typeface="Arial"/>
              </a:rPr>
              <a:t>Replace this placeholder with the matching image from the evidence folder.</a:t>
            </a:r>
          </a:p>
        </p:txBody>
      </p:sp>
      <p:sp>
        <p:nvSpPr>
          <p:cNvPr id="13" name="Rectangle: Rounded Corners 12">
            <a:extLst>
              <a:ext uri="{FF2B5EF4-FFF2-40B4-BE49-F238E27FC236}">
                <a16:creationId xmlns:a16="http://schemas.microsoft.com/office/drawing/2014/main" id="{F83C22C0-3A0E-4995-94B6-F68594EE2EF4}"/>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13CCEF2A-23BE-46C4-8227-AB4DEE66B35E}"/>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Terraform managed the VPC resources used by the EKS cluster.</a:t>
            </a:r>
          </a:p>
        </p:txBody>
      </p:sp>
      <p:pic>
        <p:nvPicPr>
          <p:cNvPr id="17" name="Picture 16" descr="A screenshot of a computer&#10;&#10;AI-generated content may be incorrect.">
            <a:extLst>
              <a:ext uri="{FF2B5EF4-FFF2-40B4-BE49-F238E27FC236}">
                <a16:creationId xmlns:a16="http://schemas.microsoft.com/office/drawing/2014/main" id="{6239911C-7D62-5E67-4E81-F9B2B40B5262}"/>
              </a:ext>
            </a:extLst>
          </p:cNvPr>
          <p:cNvPicPr>
            <a:picLocks noChangeAspect="1"/>
          </p:cNvPicPr>
          <p:nvPr/>
        </p:nvPicPr>
        <p:blipFill>
          <a:blip r:embed="rId3"/>
          <a:stretch>
            <a:fillRect/>
          </a:stretch>
        </p:blipFill>
        <p:spPr>
          <a:xfrm>
            <a:off x="1767250" y="1609298"/>
            <a:ext cx="8390231" cy="4173941"/>
          </a:xfrm>
          <a:prstGeom prst="rect">
            <a:avLst/>
          </a:prstGeom>
        </p:spPr>
      </p:pic>
    </p:spTree>
    <p:extLst>
      <p:ext uri="{BB962C8B-B14F-4D97-AF65-F5344CB8AC3E}">
        <p14:creationId xmlns:p14="http://schemas.microsoft.com/office/powerpoint/2010/main" val="1448742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3F6463C-3AEC-435A-B1BA-06DD3E324AE5}"/>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7E988134-8D6B-4C6C-A010-28AD9A83D884}"/>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AWS</a:t>
            </a:r>
          </a:p>
        </p:txBody>
      </p:sp>
      <p:sp>
        <p:nvSpPr>
          <p:cNvPr id="3" name="Rectangle 2">
            <a:extLst>
              <a:ext uri="{FF2B5EF4-FFF2-40B4-BE49-F238E27FC236}">
                <a16:creationId xmlns:a16="http://schemas.microsoft.com/office/drawing/2014/main" id="{31E29297-B410-4893-BFA9-023A67F2A49F}"/>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602F77CF-5349-4D59-80CC-8AA7321182AC}"/>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C7ACA5CD-D1A5-42CF-9FD5-926A2EC482E1}"/>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EKS control plane and managed nodes</a:t>
            </a:r>
          </a:p>
        </p:txBody>
      </p:sp>
      <p:sp>
        <p:nvSpPr>
          <p:cNvPr id="6" name="Rectangle 5">
            <a:extLst>
              <a:ext uri="{FF2B5EF4-FFF2-40B4-BE49-F238E27FC236}">
                <a16:creationId xmlns:a16="http://schemas.microsoft.com/office/drawing/2014/main" id="{C68F69D7-636C-440B-9CB8-3315BDA018DD}"/>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EKS console confirms the StudySpace cluster and managed capacity during the demo.</a:t>
            </a:r>
          </a:p>
        </p:txBody>
      </p:sp>
      <p:sp>
        <p:nvSpPr>
          <p:cNvPr id="7" name="Rectangle: Rounded Corners 6">
            <a:extLst>
              <a:ext uri="{FF2B5EF4-FFF2-40B4-BE49-F238E27FC236}">
                <a16:creationId xmlns:a16="http://schemas.microsoft.com/office/drawing/2014/main" id="{A4049751-E4E9-401D-876A-462C816F1329}"/>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FF757E92-F31A-4F30-AD5B-BA7660F41769}"/>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9" name="Rectangle: Rounded Corners 8">
            <a:extLst>
              <a:ext uri="{FF2B5EF4-FFF2-40B4-BE49-F238E27FC236}">
                <a16:creationId xmlns:a16="http://schemas.microsoft.com/office/drawing/2014/main" id="{FA55674F-CA11-4608-B39B-D126DF588AFE}"/>
              </a:ext>
            </a:extLst>
          </p:cNvPr>
          <p:cNvSpPr>
            <a:spLocks noGrp="1"/>
          </p:cNvSpPr>
          <p:nvPr/>
        </p:nvSpPr>
        <p:spPr>
          <a:xfrm>
            <a:off x="1095375" y="2124075"/>
            <a:ext cx="10001250" cy="3133725"/>
          </a:xfrm>
          <a:prstGeom prst="roundRect">
            <a:avLst>
              <a:gd name="adj" fmla="val 2432"/>
            </a:avLst>
          </a:prstGeom>
          <a:solidFill>
            <a:srgbClr val="EFF5F8"/>
          </a:solidFill>
          <a:ln w="9525">
            <a:solidFill>
              <a:srgbClr val="B7C8D6"/>
            </a:solidFill>
            <a:prstDash val="solid"/>
          </a:ln>
        </p:spPr>
      </p:sp>
      <p:sp>
        <p:nvSpPr>
          <p:cNvPr id="10" name="Rectangle 9">
            <a:extLst>
              <a:ext uri="{FF2B5EF4-FFF2-40B4-BE49-F238E27FC236}">
                <a16:creationId xmlns:a16="http://schemas.microsoft.com/office/drawing/2014/main" id="{DFD68C56-5B19-4ED1-A2BE-CA32DA799864}"/>
              </a:ext>
            </a:extLst>
          </p:cNvPr>
          <p:cNvSpPr>
            <a:spLocks noGrp="1"/>
          </p:cNvSpPr>
          <p:nvPr/>
        </p:nvSpPr>
        <p:spPr>
          <a:xfrm>
            <a:off x="1381125" y="2962275"/>
            <a:ext cx="9429750" cy="419100"/>
          </a:xfrm>
          <a:prstGeom prst="rect">
            <a:avLst/>
          </a:prstGeom>
          <a:noFill/>
          <a:ln w="0">
            <a:noFill/>
            <a:prstDash val="solid"/>
          </a:ln>
        </p:spPr>
        <p:txBody>
          <a:bodyPr lIns="0" tIns="0" rIns="0" bIns="0" anchor="ctr">
            <a:normAutofit/>
          </a:bodyPr>
          <a:lstStyle>
            <a:defPPr algn="ctr">
              <a:defRPr sz="1875" b="1">
                <a:solidFill>
                  <a:srgbClr val="1C5D99"/>
                </a:solidFill>
                <a:latin typeface="Arial"/>
                <a:ea typeface="Arial"/>
                <a:cs typeface="Arial"/>
              </a:defRPr>
            </a:defPPr>
          </a:lstStyle>
          <a:p>
            <a:pPr algn="ctr">
              <a:defRPr sz="1875" b="1">
                <a:solidFill>
                  <a:srgbClr val="1C5D99"/>
                </a:solidFill>
                <a:latin typeface="Arial"/>
                <a:ea typeface="Arial"/>
                <a:cs typeface="Arial"/>
              </a:defRPr>
            </a:pPr>
            <a:r>
              <a:rPr sz="1875" b="1">
                <a:solidFill>
                  <a:srgbClr val="1C5D99"/>
                </a:solidFill>
                <a:latin typeface="Arial"/>
                <a:ea typeface="Arial"/>
                <a:cs typeface="Arial"/>
              </a:rPr>
              <a:t>INSERT SCREENSHOT HERE</a:t>
            </a:r>
          </a:p>
        </p:txBody>
      </p:sp>
      <p:sp>
        <p:nvSpPr>
          <p:cNvPr id="11" name="Rectangle 10">
            <a:extLst>
              <a:ext uri="{FF2B5EF4-FFF2-40B4-BE49-F238E27FC236}">
                <a16:creationId xmlns:a16="http://schemas.microsoft.com/office/drawing/2014/main" id="{87280860-FD54-422A-A71C-1525FB84ACFB}"/>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eks.png</a:t>
            </a:r>
          </a:p>
        </p:txBody>
      </p:sp>
      <p:sp>
        <p:nvSpPr>
          <p:cNvPr id="12" name="Rectangle 11">
            <a:extLst>
              <a:ext uri="{FF2B5EF4-FFF2-40B4-BE49-F238E27FC236}">
                <a16:creationId xmlns:a16="http://schemas.microsoft.com/office/drawing/2014/main" id="{5B594795-7339-4432-AAED-CEA07EE9A37E}"/>
              </a:ext>
            </a:extLst>
          </p:cNvPr>
          <p:cNvSpPr>
            <a:spLocks noGrp="1"/>
          </p:cNvSpPr>
          <p:nvPr/>
        </p:nvSpPr>
        <p:spPr>
          <a:xfrm>
            <a:off x="1381125" y="3971925"/>
            <a:ext cx="9429750" cy="304800"/>
          </a:xfrm>
          <a:prstGeom prst="rect">
            <a:avLst/>
          </a:prstGeom>
          <a:noFill/>
          <a:ln w="0">
            <a:noFill/>
            <a:prstDash val="solid"/>
          </a:ln>
        </p:spPr>
        <p:txBody>
          <a:bodyPr lIns="0" tIns="0" rIns="0" bIns="0" anchor="ctr">
            <a:normAutofit/>
          </a:bodyPr>
          <a:lstStyle>
            <a:defPPr algn="ctr">
              <a:defRPr sz="1125" b="0">
                <a:solidFill>
                  <a:srgbClr val="526579"/>
                </a:solidFill>
                <a:latin typeface="Arial"/>
                <a:ea typeface="Arial"/>
                <a:cs typeface="Arial"/>
              </a:defRPr>
            </a:defPPr>
          </a:lstStyle>
          <a:p>
            <a:pPr algn="ctr">
              <a:defRPr sz="1125" b="0">
                <a:solidFill>
                  <a:srgbClr val="526579"/>
                </a:solidFill>
                <a:latin typeface="Arial"/>
                <a:ea typeface="Arial"/>
                <a:cs typeface="Arial"/>
              </a:defRPr>
            </a:pPr>
            <a:r>
              <a:rPr sz="1125" b="0">
                <a:solidFill>
                  <a:srgbClr val="526579"/>
                </a:solidFill>
                <a:latin typeface="Arial"/>
                <a:ea typeface="Arial"/>
                <a:cs typeface="Arial"/>
              </a:rPr>
              <a:t>Replace this placeholder with the matching image from the evidence folder.</a:t>
            </a:r>
          </a:p>
        </p:txBody>
      </p:sp>
      <p:sp>
        <p:nvSpPr>
          <p:cNvPr id="13" name="Rectangle: Rounded Corners 12">
            <a:extLst>
              <a:ext uri="{FF2B5EF4-FFF2-40B4-BE49-F238E27FC236}">
                <a16:creationId xmlns:a16="http://schemas.microsoft.com/office/drawing/2014/main" id="{8F9F65F2-933F-4286-B1DC-96EF83D7A740}"/>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E48B6431-13A8-4D82-B118-A1327AE548BA}"/>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The worker group used two t3.small instances for this short evidence run.</a:t>
            </a:r>
          </a:p>
        </p:txBody>
      </p:sp>
      <p:pic>
        <p:nvPicPr>
          <p:cNvPr id="17" name="Picture 16" descr="A screenshot of a computer&#10;&#10;AI-generated content may be incorrect.">
            <a:extLst>
              <a:ext uri="{FF2B5EF4-FFF2-40B4-BE49-F238E27FC236}">
                <a16:creationId xmlns:a16="http://schemas.microsoft.com/office/drawing/2014/main" id="{D46C1597-3304-8BDE-962F-2729E47B3CCE}"/>
              </a:ext>
            </a:extLst>
          </p:cNvPr>
          <p:cNvPicPr>
            <a:picLocks noChangeAspect="1"/>
          </p:cNvPicPr>
          <p:nvPr/>
        </p:nvPicPr>
        <p:blipFill>
          <a:blip r:embed="rId3"/>
          <a:stretch>
            <a:fillRect/>
          </a:stretch>
        </p:blipFill>
        <p:spPr>
          <a:xfrm>
            <a:off x="2506762" y="1609298"/>
            <a:ext cx="7303580" cy="4196686"/>
          </a:xfrm>
          <a:prstGeom prst="rect">
            <a:avLst/>
          </a:prstGeom>
        </p:spPr>
      </p:pic>
    </p:spTree>
    <p:extLst>
      <p:ext uri="{BB962C8B-B14F-4D97-AF65-F5344CB8AC3E}">
        <p14:creationId xmlns:p14="http://schemas.microsoft.com/office/powerpoint/2010/main" val="2121313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00C69C-8AE3-42DB-9E5C-808EFC137BA8}"/>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8FD937FF-AF2E-4B63-8A92-B19361E6EC71}"/>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KUBERNETES</a:t>
            </a:r>
          </a:p>
        </p:txBody>
      </p:sp>
      <p:sp>
        <p:nvSpPr>
          <p:cNvPr id="3" name="Rectangle 2">
            <a:extLst>
              <a:ext uri="{FF2B5EF4-FFF2-40B4-BE49-F238E27FC236}">
                <a16:creationId xmlns:a16="http://schemas.microsoft.com/office/drawing/2014/main" id="{86605458-F439-4B0D-87DF-87B0A7B0652D}"/>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C4C85445-304D-4686-BDB8-F8747BE6956D}"/>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292D305E-66BE-486D-81D8-F9F14CCBD511}"/>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Kubernetes workloads reached Running</a:t>
            </a:r>
          </a:p>
        </p:txBody>
      </p:sp>
      <p:sp>
        <p:nvSpPr>
          <p:cNvPr id="6" name="Rectangle 5">
            <a:extLst>
              <a:ext uri="{FF2B5EF4-FFF2-40B4-BE49-F238E27FC236}">
                <a16:creationId xmlns:a16="http://schemas.microsoft.com/office/drawing/2014/main" id="{98B44657-7753-42E2-8CB4-82982C65D1EB}"/>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application and PostgreSQL pods were scheduled and ready in the cluster.</a:t>
            </a:r>
          </a:p>
        </p:txBody>
      </p:sp>
      <p:sp>
        <p:nvSpPr>
          <p:cNvPr id="7" name="Rectangle: Rounded Corners 6">
            <a:extLst>
              <a:ext uri="{FF2B5EF4-FFF2-40B4-BE49-F238E27FC236}">
                <a16:creationId xmlns:a16="http://schemas.microsoft.com/office/drawing/2014/main" id="{FF13D63C-69F0-4B5A-8512-6A7D4D764432}"/>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39686402-71A7-4ECF-AB88-6D7B5EFBA4C6}"/>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9" name="Rectangle: Rounded Corners 8">
            <a:extLst>
              <a:ext uri="{FF2B5EF4-FFF2-40B4-BE49-F238E27FC236}">
                <a16:creationId xmlns:a16="http://schemas.microsoft.com/office/drawing/2014/main" id="{2DED5668-CE58-4706-90C9-B65ABED8F033}"/>
              </a:ext>
            </a:extLst>
          </p:cNvPr>
          <p:cNvSpPr>
            <a:spLocks noGrp="1"/>
          </p:cNvSpPr>
          <p:nvPr/>
        </p:nvSpPr>
        <p:spPr>
          <a:xfrm>
            <a:off x="1095375" y="2124075"/>
            <a:ext cx="10001250" cy="3133725"/>
          </a:xfrm>
          <a:prstGeom prst="roundRect">
            <a:avLst>
              <a:gd name="adj" fmla="val 2432"/>
            </a:avLst>
          </a:prstGeom>
          <a:solidFill>
            <a:srgbClr val="EFF5F8"/>
          </a:solidFill>
          <a:ln w="9525">
            <a:solidFill>
              <a:srgbClr val="B7C8D6"/>
            </a:solidFill>
            <a:prstDash val="solid"/>
          </a:ln>
        </p:spPr>
      </p:sp>
      <p:sp>
        <p:nvSpPr>
          <p:cNvPr id="10" name="Rectangle 9">
            <a:extLst>
              <a:ext uri="{FF2B5EF4-FFF2-40B4-BE49-F238E27FC236}">
                <a16:creationId xmlns:a16="http://schemas.microsoft.com/office/drawing/2014/main" id="{38AE5A8A-25C0-412C-AA8A-BAE8209F1EB3}"/>
              </a:ext>
            </a:extLst>
          </p:cNvPr>
          <p:cNvSpPr>
            <a:spLocks noGrp="1"/>
          </p:cNvSpPr>
          <p:nvPr/>
        </p:nvSpPr>
        <p:spPr>
          <a:xfrm>
            <a:off x="1381125" y="2962275"/>
            <a:ext cx="9429750" cy="419100"/>
          </a:xfrm>
          <a:prstGeom prst="rect">
            <a:avLst/>
          </a:prstGeom>
          <a:noFill/>
          <a:ln w="0">
            <a:noFill/>
            <a:prstDash val="solid"/>
          </a:ln>
        </p:spPr>
        <p:txBody>
          <a:bodyPr lIns="0" tIns="0" rIns="0" bIns="0" anchor="ctr">
            <a:normAutofit/>
          </a:bodyPr>
          <a:lstStyle>
            <a:defPPr algn="ctr">
              <a:defRPr sz="1875" b="1">
                <a:solidFill>
                  <a:srgbClr val="1C5D99"/>
                </a:solidFill>
                <a:latin typeface="Arial"/>
                <a:ea typeface="Arial"/>
                <a:cs typeface="Arial"/>
              </a:defRPr>
            </a:defPPr>
          </a:lstStyle>
          <a:p>
            <a:pPr algn="ctr">
              <a:defRPr sz="1875" b="1">
                <a:solidFill>
                  <a:srgbClr val="1C5D99"/>
                </a:solidFill>
                <a:latin typeface="Arial"/>
                <a:ea typeface="Arial"/>
                <a:cs typeface="Arial"/>
              </a:defRPr>
            </a:pPr>
            <a:r>
              <a:rPr sz="1875" b="1">
                <a:solidFill>
                  <a:srgbClr val="1C5D99"/>
                </a:solidFill>
                <a:latin typeface="Arial"/>
                <a:ea typeface="Arial"/>
                <a:cs typeface="Arial"/>
              </a:rPr>
              <a:t>INSERT SCREENSHOT HERE</a:t>
            </a:r>
          </a:p>
        </p:txBody>
      </p:sp>
      <p:sp>
        <p:nvSpPr>
          <p:cNvPr id="11" name="Rectangle 10">
            <a:extLst>
              <a:ext uri="{FF2B5EF4-FFF2-40B4-BE49-F238E27FC236}">
                <a16:creationId xmlns:a16="http://schemas.microsoft.com/office/drawing/2014/main" id="{F69104A5-4799-4D83-80CC-3974ECC49C18}"/>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11-kubernetes-pods.png</a:t>
            </a:r>
          </a:p>
        </p:txBody>
      </p:sp>
      <p:sp>
        <p:nvSpPr>
          <p:cNvPr id="12" name="Rectangle 11">
            <a:extLst>
              <a:ext uri="{FF2B5EF4-FFF2-40B4-BE49-F238E27FC236}">
                <a16:creationId xmlns:a16="http://schemas.microsoft.com/office/drawing/2014/main" id="{1C4454BA-DB7B-4E7C-81C8-1B04A4DC5165}"/>
              </a:ext>
            </a:extLst>
          </p:cNvPr>
          <p:cNvSpPr>
            <a:spLocks noGrp="1"/>
          </p:cNvSpPr>
          <p:nvPr/>
        </p:nvSpPr>
        <p:spPr>
          <a:xfrm>
            <a:off x="1381125" y="3971925"/>
            <a:ext cx="9429750" cy="304800"/>
          </a:xfrm>
          <a:prstGeom prst="rect">
            <a:avLst/>
          </a:prstGeom>
          <a:noFill/>
          <a:ln w="0">
            <a:noFill/>
            <a:prstDash val="solid"/>
          </a:ln>
        </p:spPr>
        <p:txBody>
          <a:bodyPr lIns="0" tIns="0" rIns="0" bIns="0" anchor="ctr">
            <a:normAutofit/>
          </a:bodyPr>
          <a:lstStyle>
            <a:defPPr algn="ctr">
              <a:defRPr sz="1125" b="0">
                <a:solidFill>
                  <a:srgbClr val="526579"/>
                </a:solidFill>
                <a:latin typeface="Arial"/>
                <a:ea typeface="Arial"/>
                <a:cs typeface="Arial"/>
              </a:defRPr>
            </a:defPPr>
          </a:lstStyle>
          <a:p>
            <a:pPr algn="ctr">
              <a:defRPr sz="1125" b="0">
                <a:solidFill>
                  <a:srgbClr val="526579"/>
                </a:solidFill>
                <a:latin typeface="Arial"/>
                <a:ea typeface="Arial"/>
                <a:cs typeface="Arial"/>
              </a:defRPr>
            </a:pPr>
            <a:r>
              <a:rPr sz="1125" b="0">
                <a:solidFill>
                  <a:srgbClr val="526579"/>
                </a:solidFill>
                <a:latin typeface="Arial"/>
                <a:ea typeface="Arial"/>
                <a:cs typeface="Arial"/>
              </a:rPr>
              <a:t>Replace this placeholder with the matching image from the evidence folder.</a:t>
            </a:r>
          </a:p>
        </p:txBody>
      </p:sp>
      <p:sp>
        <p:nvSpPr>
          <p:cNvPr id="13" name="Rectangle: Rounded Corners 12">
            <a:extLst>
              <a:ext uri="{FF2B5EF4-FFF2-40B4-BE49-F238E27FC236}">
                <a16:creationId xmlns:a16="http://schemas.microsoft.com/office/drawing/2014/main" id="{C3667F5B-2A8A-4550-99A2-8D864A1431B6}"/>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0FC9D0BE-CDBB-4C8B-A3A8-B7D5A71E234A}"/>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Backend and frontend ran as Deployments with multiple replicas.</a:t>
            </a:r>
          </a:p>
        </p:txBody>
      </p:sp>
      <p:pic>
        <p:nvPicPr>
          <p:cNvPr id="16" name="Picture 15">
            <a:extLst>
              <a:ext uri="{FF2B5EF4-FFF2-40B4-BE49-F238E27FC236}">
                <a16:creationId xmlns:a16="http://schemas.microsoft.com/office/drawing/2014/main" id="{98F8E630-AFC2-4CB9-567A-C56746D0B820}"/>
              </a:ext>
            </a:extLst>
          </p:cNvPr>
          <p:cNvPicPr>
            <a:picLocks noChangeAspect="1"/>
          </p:cNvPicPr>
          <p:nvPr/>
        </p:nvPicPr>
        <p:blipFill>
          <a:blip r:embed="rId3"/>
          <a:stretch>
            <a:fillRect/>
          </a:stretch>
        </p:blipFill>
        <p:spPr>
          <a:xfrm>
            <a:off x="744940" y="2503389"/>
            <a:ext cx="10707807" cy="1964954"/>
          </a:xfrm>
          <a:prstGeom prst="rect">
            <a:avLst/>
          </a:prstGeom>
        </p:spPr>
      </p:pic>
    </p:spTree>
    <p:extLst>
      <p:ext uri="{BB962C8B-B14F-4D97-AF65-F5344CB8AC3E}">
        <p14:creationId xmlns:p14="http://schemas.microsoft.com/office/powerpoint/2010/main" val="414157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FD1C3C2-FF04-41C7-B9BB-1253CA2CC5D1}"/>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938BA221-28C7-4B19-883A-F393D1C2681D}"/>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KUBERNETES</a:t>
            </a:r>
          </a:p>
        </p:txBody>
      </p:sp>
      <p:sp>
        <p:nvSpPr>
          <p:cNvPr id="3" name="Rectangle 2">
            <a:extLst>
              <a:ext uri="{FF2B5EF4-FFF2-40B4-BE49-F238E27FC236}">
                <a16:creationId xmlns:a16="http://schemas.microsoft.com/office/drawing/2014/main" id="{90A5CA9F-CCA3-4B9C-9193-85905B6E80C4}"/>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DE97ABC9-A4EF-4258-B7AA-F0B77E3246CE}"/>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CD4D0CBC-997A-406A-9DBE-714A99A550DA}"/>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Kubernetes Services connect the pods</a:t>
            </a:r>
          </a:p>
        </p:txBody>
      </p:sp>
      <p:sp>
        <p:nvSpPr>
          <p:cNvPr id="6" name="Rectangle 5">
            <a:extLst>
              <a:ext uri="{FF2B5EF4-FFF2-40B4-BE49-F238E27FC236}">
                <a16:creationId xmlns:a16="http://schemas.microsoft.com/office/drawing/2014/main" id="{4602B29D-5178-4F3D-B1B8-F28F1706DBC0}"/>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ClusterIP Services provide stable internal endpoints for the frontend, API, and database.</a:t>
            </a:r>
          </a:p>
        </p:txBody>
      </p:sp>
      <p:sp>
        <p:nvSpPr>
          <p:cNvPr id="7" name="Rectangle: Rounded Corners 6">
            <a:extLst>
              <a:ext uri="{FF2B5EF4-FFF2-40B4-BE49-F238E27FC236}">
                <a16:creationId xmlns:a16="http://schemas.microsoft.com/office/drawing/2014/main" id="{F1C5E0CF-C4DE-4695-8406-9C017ACEF0C3}"/>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2C07B05F-4277-4C51-A578-9C0BBEC7C7F0}"/>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10" name="Rectangle 9">
            <a:extLst>
              <a:ext uri="{FF2B5EF4-FFF2-40B4-BE49-F238E27FC236}">
                <a16:creationId xmlns:a16="http://schemas.microsoft.com/office/drawing/2014/main" id="{84045DB7-B694-4A56-8AC6-5A7E30A58012}"/>
              </a:ext>
            </a:extLst>
          </p:cNvPr>
          <p:cNvSpPr>
            <a:spLocks noGrp="1"/>
          </p:cNvSpPr>
          <p:nvPr/>
        </p:nvSpPr>
        <p:spPr>
          <a:xfrm>
            <a:off x="1381125" y="2962275"/>
            <a:ext cx="9429750" cy="419100"/>
          </a:xfrm>
          <a:prstGeom prst="rect">
            <a:avLst/>
          </a:prstGeom>
          <a:noFill/>
          <a:ln w="0">
            <a:noFill/>
            <a:prstDash val="solid"/>
          </a:ln>
        </p:spPr>
        <p:txBody>
          <a:bodyPr lIns="0" tIns="0" rIns="0" bIns="0" anchor="ctr">
            <a:normAutofit/>
          </a:bodyPr>
          <a:lstStyle>
            <a:defPPr algn="ctr">
              <a:defRPr sz="1875" b="1">
                <a:solidFill>
                  <a:srgbClr val="1C5D99"/>
                </a:solidFill>
                <a:latin typeface="Arial"/>
                <a:ea typeface="Arial"/>
                <a:cs typeface="Arial"/>
              </a:defRPr>
            </a:defPPr>
          </a:lstStyle>
          <a:p>
            <a:pPr algn="ctr">
              <a:defRPr sz="1875" b="1">
                <a:solidFill>
                  <a:srgbClr val="1C5D99"/>
                </a:solidFill>
                <a:latin typeface="Arial"/>
                <a:ea typeface="Arial"/>
                <a:cs typeface="Arial"/>
              </a:defRPr>
            </a:pPr>
            <a:r>
              <a:rPr sz="1875" b="1">
                <a:solidFill>
                  <a:srgbClr val="1C5D99"/>
                </a:solidFill>
                <a:latin typeface="Arial"/>
                <a:ea typeface="Arial"/>
                <a:cs typeface="Arial"/>
              </a:rPr>
              <a:t>INSERT SCREENSHOT HERE</a:t>
            </a:r>
          </a:p>
        </p:txBody>
      </p:sp>
      <p:sp>
        <p:nvSpPr>
          <p:cNvPr id="11" name="Rectangle 10">
            <a:extLst>
              <a:ext uri="{FF2B5EF4-FFF2-40B4-BE49-F238E27FC236}">
                <a16:creationId xmlns:a16="http://schemas.microsoft.com/office/drawing/2014/main" id="{C328877F-FF2D-4B87-9798-6BD00A896305}"/>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12-kubernetes-services.png</a:t>
            </a:r>
          </a:p>
        </p:txBody>
      </p:sp>
      <p:sp>
        <p:nvSpPr>
          <p:cNvPr id="12" name="Rectangle 11">
            <a:extLst>
              <a:ext uri="{FF2B5EF4-FFF2-40B4-BE49-F238E27FC236}">
                <a16:creationId xmlns:a16="http://schemas.microsoft.com/office/drawing/2014/main" id="{04716E9C-E3BD-48CF-B252-32E30D877BA4}"/>
              </a:ext>
            </a:extLst>
          </p:cNvPr>
          <p:cNvSpPr>
            <a:spLocks noGrp="1"/>
          </p:cNvSpPr>
          <p:nvPr/>
        </p:nvSpPr>
        <p:spPr>
          <a:xfrm>
            <a:off x="1381125" y="3971925"/>
            <a:ext cx="9429750" cy="304800"/>
          </a:xfrm>
          <a:prstGeom prst="rect">
            <a:avLst/>
          </a:prstGeom>
          <a:noFill/>
          <a:ln w="0">
            <a:noFill/>
            <a:prstDash val="solid"/>
          </a:ln>
        </p:spPr>
        <p:txBody>
          <a:bodyPr lIns="0" tIns="0" rIns="0" bIns="0" anchor="ctr">
            <a:normAutofit/>
          </a:bodyPr>
          <a:lstStyle>
            <a:defPPr algn="ctr">
              <a:defRPr sz="1125" b="0">
                <a:solidFill>
                  <a:srgbClr val="526579"/>
                </a:solidFill>
                <a:latin typeface="Arial"/>
                <a:ea typeface="Arial"/>
                <a:cs typeface="Arial"/>
              </a:defRPr>
            </a:defPPr>
          </a:lstStyle>
          <a:p>
            <a:pPr algn="ctr">
              <a:defRPr sz="1125" b="0">
                <a:solidFill>
                  <a:srgbClr val="526579"/>
                </a:solidFill>
                <a:latin typeface="Arial"/>
                <a:ea typeface="Arial"/>
                <a:cs typeface="Arial"/>
              </a:defRPr>
            </a:pPr>
            <a:r>
              <a:rPr sz="1125" b="0">
                <a:solidFill>
                  <a:srgbClr val="526579"/>
                </a:solidFill>
                <a:latin typeface="Arial"/>
                <a:ea typeface="Arial"/>
                <a:cs typeface="Arial"/>
              </a:rPr>
              <a:t>Replace this placeholder with the matching image from the evidence folder.</a:t>
            </a:r>
          </a:p>
        </p:txBody>
      </p:sp>
      <p:sp>
        <p:nvSpPr>
          <p:cNvPr id="13" name="Rectangle: Rounded Corners 12">
            <a:extLst>
              <a:ext uri="{FF2B5EF4-FFF2-40B4-BE49-F238E27FC236}">
                <a16:creationId xmlns:a16="http://schemas.microsoft.com/office/drawing/2014/main" id="{12621A40-F2A9-4BE1-BD33-D242A3377824}"/>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1684D8B3-D84C-4FC2-8B56-FE300E8A3D9A}"/>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The service layer routes requests independently of individual pod addresses.</a:t>
            </a:r>
          </a:p>
        </p:txBody>
      </p:sp>
      <p:pic>
        <p:nvPicPr>
          <p:cNvPr id="16" name="Picture 15">
            <a:extLst>
              <a:ext uri="{FF2B5EF4-FFF2-40B4-BE49-F238E27FC236}">
                <a16:creationId xmlns:a16="http://schemas.microsoft.com/office/drawing/2014/main" id="{48F5C6FA-79C4-8715-DE28-7A2EA69F767A}"/>
              </a:ext>
            </a:extLst>
          </p:cNvPr>
          <p:cNvPicPr>
            <a:picLocks noChangeAspect="1"/>
          </p:cNvPicPr>
          <p:nvPr/>
        </p:nvPicPr>
        <p:blipFill>
          <a:blip r:embed="rId3"/>
          <a:stretch>
            <a:fillRect/>
          </a:stretch>
        </p:blipFill>
        <p:spPr>
          <a:xfrm>
            <a:off x="744940" y="2569652"/>
            <a:ext cx="10696434" cy="1713010"/>
          </a:xfrm>
          <a:prstGeom prst="rect">
            <a:avLst/>
          </a:prstGeom>
        </p:spPr>
      </p:pic>
    </p:spTree>
    <p:extLst>
      <p:ext uri="{BB962C8B-B14F-4D97-AF65-F5344CB8AC3E}">
        <p14:creationId xmlns:p14="http://schemas.microsoft.com/office/powerpoint/2010/main" val="528094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FCC60F2-24F8-44BB-99E5-D4D73B479371}"/>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F5DF65F2-2305-43CD-8018-87A00E750F52}"/>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KUBERNETES</a:t>
            </a:r>
          </a:p>
        </p:txBody>
      </p:sp>
      <p:sp>
        <p:nvSpPr>
          <p:cNvPr id="3" name="Rectangle 2">
            <a:extLst>
              <a:ext uri="{FF2B5EF4-FFF2-40B4-BE49-F238E27FC236}">
                <a16:creationId xmlns:a16="http://schemas.microsoft.com/office/drawing/2014/main" id="{186B3ED6-01BB-4ED5-86D9-B10AA8ACB35E}"/>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4780E546-8D7A-4760-A394-2F16D5CAE77E}"/>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0159EFFB-A95C-4844-8622-A6069D7F55DA}"/>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Helm manages the StudySpace release</a:t>
            </a:r>
          </a:p>
        </p:txBody>
      </p:sp>
      <p:sp>
        <p:nvSpPr>
          <p:cNvPr id="6" name="Rectangle 5">
            <a:extLst>
              <a:ext uri="{FF2B5EF4-FFF2-40B4-BE49-F238E27FC236}">
                <a16:creationId xmlns:a16="http://schemas.microsoft.com/office/drawing/2014/main" id="{40709682-8062-43EF-96A8-452C5968B748}"/>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Helm release records the chart deployment and revision in the cluster.</a:t>
            </a:r>
          </a:p>
        </p:txBody>
      </p:sp>
      <p:sp>
        <p:nvSpPr>
          <p:cNvPr id="7" name="Rectangle: Rounded Corners 6">
            <a:extLst>
              <a:ext uri="{FF2B5EF4-FFF2-40B4-BE49-F238E27FC236}">
                <a16:creationId xmlns:a16="http://schemas.microsoft.com/office/drawing/2014/main" id="{C0CB7146-8645-49DC-8D33-A3D35415E31C}"/>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BC17149B-74BB-4C5C-8073-6FF25F050713}"/>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9" name="Rectangle: Rounded Corners 8">
            <a:extLst>
              <a:ext uri="{FF2B5EF4-FFF2-40B4-BE49-F238E27FC236}">
                <a16:creationId xmlns:a16="http://schemas.microsoft.com/office/drawing/2014/main" id="{93D39BC1-31D1-448E-BEBF-92785280E389}"/>
              </a:ext>
            </a:extLst>
          </p:cNvPr>
          <p:cNvSpPr>
            <a:spLocks noGrp="1"/>
          </p:cNvSpPr>
          <p:nvPr/>
        </p:nvSpPr>
        <p:spPr>
          <a:xfrm>
            <a:off x="1095375" y="2124075"/>
            <a:ext cx="10001250" cy="3133725"/>
          </a:xfrm>
          <a:prstGeom prst="roundRect">
            <a:avLst>
              <a:gd name="adj" fmla="val 2432"/>
            </a:avLst>
          </a:prstGeom>
          <a:solidFill>
            <a:srgbClr val="EFF5F8"/>
          </a:solidFill>
          <a:ln w="9525">
            <a:solidFill>
              <a:srgbClr val="B7C8D6"/>
            </a:solidFill>
            <a:prstDash val="solid"/>
          </a:ln>
        </p:spPr>
      </p:sp>
      <p:sp>
        <p:nvSpPr>
          <p:cNvPr id="10" name="Rectangle 9">
            <a:extLst>
              <a:ext uri="{FF2B5EF4-FFF2-40B4-BE49-F238E27FC236}">
                <a16:creationId xmlns:a16="http://schemas.microsoft.com/office/drawing/2014/main" id="{726BD4E5-189E-471C-A233-BCFB2EA2262F}"/>
              </a:ext>
            </a:extLst>
          </p:cNvPr>
          <p:cNvSpPr>
            <a:spLocks noGrp="1"/>
          </p:cNvSpPr>
          <p:nvPr/>
        </p:nvSpPr>
        <p:spPr>
          <a:xfrm>
            <a:off x="1381125" y="2962275"/>
            <a:ext cx="9429750" cy="419100"/>
          </a:xfrm>
          <a:prstGeom prst="rect">
            <a:avLst/>
          </a:prstGeom>
          <a:noFill/>
          <a:ln w="0">
            <a:noFill/>
            <a:prstDash val="solid"/>
          </a:ln>
        </p:spPr>
        <p:txBody>
          <a:bodyPr lIns="0" tIns="0" rIns="0" bIns="0" anchor="ctr">
            <a:normAutofit/>
          </a:bodyPr>
          <a:lstStyle>
            <a:defPPr algn="ctr">
              <a:defRPr sz="1875" b="1">
                <a:solidFill>
                  <a:srgbClr val="1C5D99"/>
                </a:solidFill>
                <a:latin typeface="Arial"/>
                <a:ea typeface="Arial"/>
                <a:cs typeface="Arial"/>
              </a:defRPr>
            </a:defPPr>
          </a:lstStyle>
          <a:p>
            <a:pPr algn="ctr">
              <a:defRPr sz="1875" b="1">
                <a:solidFill>
                  <a:srgbClr val="1C5D99"/>
                </a:solidFill>
                <a:latin typeface="Arial"/>
                <a:ea typeface="Arial"/>
                <a:cs typeface="Arial"/>
              </a:defRPr>
            </a:pPr>
            <a:r>
              <a:rPr sz="1875" b="1">
                <a:solidFill>
                  <a:srgbClr val="1C5D99"/>
                </a:solidFill>
                <a:latin typeface="Arial"/>
                <a:ea typeface="Arial"/>
                <a:cs typeface="Arial"/>
              </a:rPr>
              <a:t>INSERT SCREENSHOT HERE</a:t>
            </a:r>
          </a:p>
        </p:txBody>
      </p:sp>
      <p:sp>
        <p:nvSpPr>
          <p:cNvPr id="11" name="Rectangle 10">
            <a:extLst>
              <a:ext uri="{FF2B5EF4-FFF2-40B4-BE49-F238E27FC236}">
                <a16:creationId xmlns:a16="http://schemas.microsoft.com/office/drawing/2014/main" id="{E37CE948-04A8-4088-A4C3-D81B2FE7E1C3}"/>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13-helm-release.png</a:t>
            </a:r>
          </a:p>
        </p:txBody>
      </p:sp>
      <p:sp>
        <p:nvSpPr>
          <p:cNvPr id="13" name="Rectangle: Rounded Corners 12">
            <a:extLst>
              <a:ext uri="{FF2B5EF4-FFF2-40B4-BE49-F238E27FC236}">
                <a16:creationId xmlns:a16="http://schemas.microsoft.com/office/drawing/2014/main" id="{66437A3C-2129-4AB5-9289-330688E2F56E}"/>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1F79ACD3-2651-43C3-B70C-5BCD17928D85}"/>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Helm packages the Kubernetes configuration for repeatable installs and upgrades.</a:t>
            </a:r>
          </a:p>
        </p:txBody>
      </p:sp>
      <p:pic>
        <p:nvPicPr>
          <p:cNvPr id="16" name="Picture 15">
            <a:extLst>
              <a:ext uri="{FF2B5EF4-FFF2-40B4-BE49-F238E27FC236}">
                <a16:creationId xmlns:a16="http://schemas.microsoft.com/office/drawing/2014/main" id="{83033395-7D15-9049-3D29-CD4960AF6185}"/>
              </a:ext>
            </a:extLst>
          </p:cNvPr>
          <p:cNvPicPr>
            <a:picLocks noChangeAspect="1"/>
          </p:cNvPicPr>
          <p:nvPr/>
        </p:nvPicPr>
        <p:blipFill>
          <a:blip r:embed="rId3"/>
          <a:stretch>
            <a:fillRect/>
          </a:stretch>
        </p:blipFill>
        <p:spPr>
          <a:xfrm>
            <a:off x="750627" y="3047277"/>
            <a:ext cx="10707806" cy="797565"/>
          </a:xfrm>
          <a:prstGeom prst="rect">
            <a:avLst/>
          </a:prstGeom>
        </p:spPr>
      </p:pic>
    </p:spTree>
    <p:extLst>
      <p:ext uri="{BB962C8B-B14F-4D97-AF65-F5344CB8AC3E}">
        <p14:creationId xmlns:p14="http://schemas.microsoft.com/office/powerpoint/2010/main" val="1544683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912FD98-4B2F-470E-8658-E4D3F4AC8B25}"/>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54EE2D7C-166F-4A46-A6F7-FCF71A9EEC51}"/>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KUBERNETES</a:t>
            </a:r>
          </a:p>
        </p:txBody>
      </p:sp>
      <p:sp>
        <p:nvSpPr>
          <p:cNvPr id="3" name="Rectangle 2">
            <a:extLst>
              <a:ext uri="{FF2B5EF4-FFF2-40B4-BE49-F238E27FC236}">
                <a16:creationId xmlns:a16="http://schemas.microsoft.com/office/drawing/2014/main" id="{98D644EE-88F2-4BFB-948A-2878692B00A8}"/>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A5B80F10-E59C-4E46-B1FD-315F0D2FEDAF}"/>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895139EA-EFA7-4E29-B021-528707F32E5B}"/>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The deployed app was reachable through Ingress</a:t>
            </a:r>
          </a:p>
        </p:txBody>
      </p:sp>
      <p:sp>
        <p:nvSpPr>
          <p:cNvPr id="6" name="Rectangle 5">
            <a:extLst>
              <a:ext uri="{FF2B5EF4-FFF2-40B4-BE49-F238E27FC236}">
                <a16:creationId xmlns:a16="http://schemas.microsoft.com/office/drawing/2014/main" id="{6A5FFD90-BC94-4624-AF93-9651D0C0EBC3}"/>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browser screenshot proves the application was available through the cloud load balancer.</a:t>
            </a:r>
          </a:p>
        </p:txBody>
      </p:sp>
      <p:sp>
        <p:nvSpPr>
          <p:cNvPr id="7" name="Rectangle: Rounded Corners 6">
            <a:extLst>
              <a:ext uri="{FF2B5EF4-FFF2-40B4-BE49-F238E27FC236}">
                <a16:creationId xmlns:a16="http://schemas.microsoft.com/office/drawing/2014/main" id="{B7A79DC7-0BBE-48DD-8C34-335D1EC67708}"/>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8EBB65EF-E3CD-4DE5-871D-3DC9879AF882}"/>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11" name="Rectangle 10">
            <a:extLst>
              <a:ext uri="{FF2B5EF4-FFF2-40B4-BE49-F238E27FC236}">
                <a16:creationId xmlns:a16="http://schemas.microsoft.com/office/drawing/2014/main" id="{673491B7-0124-441D-A4B5-E05CDA5E4624}"/>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14-ingress-app.png</a:t>
            </a:r>
          </a:p>
        </p:txBody>
      </p:sp>
      <p:sp>
        <p:nvSpPr>
          <p:cNvPr id="13" name="Rectangle: Rounded Corners 12">
            <a:extLst>
              <a:ext uri="{FF2B5EF4-FFF2-40B4-BE49-F238E27FC236}">
                <a16:creationId xmlns:a16="http://schemas.microsoft.com/office/drawing/2014/main" id="{D83E1C2A-C192-4CED-B215-1C8F46844BD0}"/>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BB729CEC-44C9-4AB2-BF3A-0F7F5E6079CD}"/>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The AWS load balancer endpoint was temporary and is no longer active after teardown.</a:t>
            </a:r>
          </a:p>
        </p:txBody>
      </p:sp>
      <p:pic>
        <p:nvPicPr>
          <p:cNvPr id="9" name="Picture 8" descr="A screenshot of a computer&#10;&#10;AI-generated content may be incorrect.">
            <a:extLst>
              <a:ext uri="{FF2B5EF4-FFF2-40B4-BE49-F238E27FC236}">
                <a16:creationId xmlns:a16="http://schemas.microsoft.com/office/drawing/2014/main" id="{616D0955-9CF4-37E7-149B-90D1E0FA1994}"/>
              </a:ext>
            </a:extLst>
          </p:cNvPr>
          <p:cNvPicPr>
            <a:picLocks noChangeAspect="1"/>
          </p:cNvPicPr>
          <p:nvPr/>
        </p:nvPicPr>
        <p:blipFill>
          <a:blip r:embed="rId3"/>
          <a:stretch>
            <a:fillRect/>
          </a:stretch>
        </p:blipFill>
        <p:spPr>
          <a:xfrm>
            <a:off x="1569436" y="1478507"/>
            <a:ext cx="8478784" cy="4316106"/>
          </a:xfrm>
          <a:prstGeom prst="rect">
            <a:avLst/>
          </a:prstGeom>
        </p:spPr>
      </p:pic>
    </p:spTree>
    <p:extLst>
      <p:ext uri="{BB962C8B-B14F-4D97-AF65-F5344CB8AC3E}">
        <p14:creationId xmlns:p14="http://schemas.microsoft.com/office/powerpoint/2010/main" val="1118457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B2B7159-5E86-4EF0-81E5-E30F2F3DE7C8}"/>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16AFFE96-58AD-4DDF-AB2A-10E5461BC85B}"/>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OBSERVABILITY</a:t>
            </a:r>
          </a:p>
        </p:txBody>
      </p:sp>
      <p:sp>
        <p:nvSpPr>
          <p:cNvPr id="3" name="Rectangle 2">
            <a:extLst>
              <a:ext uri="{FF2B5EF4-FFF2-40B4-BE49-F238E27FC236}">
                <a16:creationId xmlns:a16="http://schemas.microsoft.com/office/drawing/2014/main" id="{9EE9B504-3F5E-49AB-93FF-7C67A7B83967}"/>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63BB51D9-A647-4CCE-B4F5-3FAD7496411B}"/>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6E36482C-94C6-41FA-BA36-9A821A6F80F7}"/>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FastAPI exposes operational metrics</a:t>
            </a:r>
          </a:p>
        </p:txBody>
      </p:sp>
      <p:sp>
        <p:nvSpPr>
          <p:cNvPr id="6" name="Rectangle 5">
            <a:extLst>
              <a:ext uri="{FF2B5EF4-FFF2-40B4-BE49-F238E27FC236}">
                <a16:creationId xmlns:a16="http://schemas.microsoft.com/office/drawing/2014/main" id="{C217FE9C-D961-42CF-8DD3-C313C80E687B}"/>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backend metrics endpoint reports request counts and response measurements.</a:t>
            </a:r>
          </a:p>
        </p:txBody>
      </p:sp>
      <p:sp>
        <p:nvSpPr>
          <p:cNvPr id="7" name="Rectangle: Rounded Corners 6">
            <a:extLst>
              <a:ext uri="{FF2B5EF4-FFF2-40B4-BE49-F238E27FC236}">
                <a16:creationId xmlns:a16="http://schemas.microsoft.com/office/drawing/2014/main" id="{B6E72AC7-DBE2-4903-B5F6-16F44DDD4147}"/>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5A0A6199-3E69-47C6-A962-BB3EFB7B033B}"/>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9" name="Rectangle: Rounded Corners 8">
            <a:extLst>
              <a:ext uri="{FF2B5EF4-FFF2-40B4-BE49-F238E27FC236}">
                <a16:creationId xmlns:a16="http://schemas.microsoft.com/office/drawing/2014/main" id="{1528D324-6D7C-4F5C-B6E1-AFD55172CF5D}"/>
              </a:ext>
            </a:extLst>
          </p:cNvPr>
          <p:cNvSpPr>
            <a:spLocks noGrp="1"/>
          </p:cNvSpPr>
          <p:nvPr/>
        </p:nvSpPr>
        <p:spPr>
          <a:xfrm>
            <a:off x="1095375" y="2124075"/>
            <a:ext cx="10001250" cy="3133725"/>
          </a:xfrm>
          <a:prstGeom prst="roundRect">
            <a:avLst>
              <a:gd name="adj" fmla="val 2432"/>
            </a:avLst>
          </a:prstGeom>
          <a:solidFill>
            <a:srgbClr val="EFF5F8"/>
          </a:solidFill>
          <a:ln w="9525">
            <a:solidFill>
              <a:srgbClr val="B7C8D6"/>
            </a:solidFill>
            <a:prstDash val="solid"/>
          </a:ln>
        </p:spPr>
      </p:sp>
      <p:sp>
        <p:nvSpPr>
          <p:cNvPr id="11" name="Rectangle 10">
            <a:extLst>
              <a:ext uri="{FF2B5EF4-FFF2-40B4-BE49-F238E27FC236}">
                <a16:creationId xmlns:a16="http://schemas.microsoft.com/office/drawing/2014/main" id="{D79FCE46-CAAE-4C79-AE71-6041EBD915FF}"/>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15-backend-metrics.png</a:t>
            </a:r>
          </a:p>
        </p:txBody>
      </p:sp>
      <p:sp>
        <p:nvSpPr>
          <p:cNvPr id="13" name="Rectangle: Rounded Corners 12">
            <a:extLst>
              <a:ext uri="{FF2B5EF4-FFF2-40B4-BE49-F238E27FC236}">
                <a16:creationId xmlns:a16="http://schemas.microsoft.com/office/drawing/2014/main" id="{0D0F4703-FB47-4D9F-BDDF-61954313E501}"/>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E19B611F-E890-4BAF-B770-836F8B9A3142}"/>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Prometheus can scrape the metrics endpoint for alerting and dashboards.</a:t>
            </a:r>
          </a:p>
        </p:txBody>
      </p:sp>
      <p:pic>
        <p:nvPicPr>
          <p:cNvPr id="16" name="Picture 15">
            <a:extLst>
              <a:ext uri="{FF2B5EF4-FFF2-40B4-BE49-F238E27FC236}">
                <a16:creationId xmlns:a16="http://schemas.microsoft.com/office/drawing/2014/main" id="{4B842085-C39F-DF67-84BD-E897D9262C90}"/>
              </a:ext>
            </a:extLst>
          </p:cNvPr>
          <p:cNvPicPr>
            <a:picLocks noChangeAspect="1"/>
          </p:cNvPicPr>
          <p:nvPr/>
        </p:nvPicPr>
        <p:blipFill>
          <a:blip r:embed="rId3"/>
          <a:stretch>
            <a:fillRect/>
          </a:stretch>
        </p:blipFill>
        <p:spPr>
          <a:xfrm>
            <a:off x="2635284" y="1597924"/>
            <a:ext cx="6915746" cy="4162569"/>
          </a:xfrm>
          <a:prstGeom prst="rect">
            <a:avLst/>
          </a:prstGeom>
        </p:spPr>
      </p:pic>
    </p:spTree>
    <p:extLst>
      <p:ext uri="{BB962C8B-B14F-4D97-AF65-F5344CB8AC3E}">
        <p14:creationId xmlns:p14="http://schemas.microsoft.com/office/powerpoint/2010/main" val="725929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9338CC2-7451-44F9-9E12-0AD6D33ACBE5}"/>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3945D76B-9F78-4549-9E77-9E8E1CEDFD75}"/>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OBSERVABILITY</a:t>
            </a:r>
          </a:p>
        </p:txBody>
      </p:sp>
      <p:sp>
        <p:nvSpPr>
          <p:cNvPr id="3" name="Rectangle 2">
            <a:extLst>
              <a:ext uri="{FF2B5EF4-FFF2-40B4-BE49-F238E27FC236}">
                <a16:creationId xmlns:a16="http://schemas.microsoft.com/office/drawing/2014/main" id="{9768F588-9C00-404C-ABFD-A1AF2F41FEAD}"/>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754D739A-8F88-43B8-842B-1BAB6B46847F}"/>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02209E36-2496-4F00-A9DE-C1E9147BA03B}"/>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Prometheus scraped both backend replicas</a:t>
            </a:r>
          </a:p>
        </p:txBody>
      </p:sp>
      <p:sp>
        <p:nvSpPr>
          <p:cNvPr id="6" name="Rectangle 5">
            <a:extLst>
              <a:ext uri="{FF2B5EF4-FFF2-40B4-BE49-F238E27FC236}">
                <a16:creationId xmlns:a16="http://schemas.microsoft.com/office/drawing/2014/main" id="{42847FFD-77D9-4C44-97F7-85B6F2F138F7}"/>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Both backend targets are marked UP in the captured Prometheus targets page.</a:t>
            </a:r>
          </a:p>
        </p:txBody>
      </p:sp>
      <p:sp>
        <p:nvSpPr>
          <p:cNvPr id="7" name="Rectangle: Rounded Corners 6">
            <a:extLst>
              <a:ext uri="{FF2B5EF4-FFF2-40B4-BE49-F238E27FC236}">
                <a16:creationId xmlns:a16="http://schemas.microsoft.com/office/drawing/2014/main" id="{6528B3C1-5752-4A2D-B7BC-E814BD0D64A3}"/>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89CAF26F-8719-43FD-8840-8A58BD9800E6}"/>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9" name="Rectangle: Rounded Corners 8">
            <a:extLst>
              <a:ext uri="{FF2B5EF4-FFF2-40B4-BE49-F238E27FC236}">
                <a16:creationId xmlns:a16="http://schemas.microsoft.com/office/drawing/2014/main" id="{A5E1A4AE-C008-4253-ABBD-CB7EF8F7D804}"/>
              </a:ext>
            </a:extLst>
          </p:cNvPr>
          <p:cNvSpPr>
            <a:spLocks noGrp="1"/>
          </p:cNvSpPr>
          <p:nvPr/>
        </p:nvSpPr>
        <p:spPr>
          <a:xfrm>
            <a:off x="1095375" y="2124075"/>
            <a:ext cx="10001250" cy="3133725"/>
          </a:xfrm>
          <a:prstGeom prst="roundRect">
            <a:avLst>
              <a:gd name="adj" fmla="val 2432"/>
            </a:avLst>
          </a:prstGeom>
          <a:solidFill>
            <a:srgbClr val="EFF5F8"/>
          </a:solidFill>
          <a:ln w="9525">
            <a:solidFill>
              <a:srgbClr val="B7C8D6"/>
            </a:solidFill>
            <a:prstDash val="solid"/>
          </a:ln>
        </p:spPr>
      </p:sp>
      <p:sp>
        <p:nvSpPr>
          <p:cNvPr id="11" name="Rectangle 10">
            <a:extLst>
              <a:ext uri="{FF2B5EF4-FFF2-40B4-BE49-F238E27FC236}">
                <a16:creationId xmlns:a16="http://schemas.microsoft.com/office/drawing/2014/main" id="{C883C5C5-7D25-4B27-B368-1C2D0DF57C30}"/>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16-prometheus-target.png</a:t>
            </a:r>
          </a:p>
        </p:txBody>
      </p:sp>
      <p:sp>
        <p:nvSpPr>
          <p:cNvPr id="13" name="Rectangle: Rounded Corners 12">
            <a:extLst>
              <a:ext uri="{FF2B5EF4-FFF2-40B4-BE49-F238E27FC236}">
                <a16:creationId xmlns:a16="http://schemas.microsoft.com/office/drawing/2014/main" id="{B45F2068-5D80-4824-B83A-900AD563799C}"/>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FAAFE808-928A-4AED-8277-AF5230828536}"/>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This confirms service discovery and live scraping worked during the demo.</a:t>
            </a:r>
          </a:p>
        </p:txBody>
      </p:sp>
      <p:pic>
        <p:nvPicPr>
          <p:cNvPr id="16" name="Picture 15">
            <a:extLst>
              <a:ext uri="{FF2B5EF4-FFF2-40B4-BE49-F238E27FC236}">
                <a16:creationId xmlns:a16="http://schemas.microsoft.com/office/drawing/2014/main" id="{209371E9-24FB-92A0-5E7A-9FA65160B1C6}"/>
              </a:ext>
            </a:extLst>
          </p:cNvPr>
          <p:cNvPicPr>
            <a:picLocks noChangeAspect="1"/>
          </p:cNvPicPr>
          <p:nvPr/>
        </p:nvPicPr>
        <p:blipFill>
          <a:blip r:embed="rId3"/>
          <a:stretch>
            <a:fillRect/>
          </a:stretch>
        </p:blipFill>
        <p:spPr>
          <a:xfrm>
            <a:off x="740330" y="2147341"/>
            <a:ext cx="10679374" cy="2604508"/>
          </a:xfrm>
          <a:prstGeom prst="rect">
            <a:avLst/>
          </a:prstGeom>
          <a:ln>
            <a:solidFill>
              <a:srgbClr val="4472C4"/>
            </a:solidFill>
          </a:ln>
        </p:spPr>
      </p:pic>
    </p:spTree>
    <p:extLst>
      <p:ext uri="{BB962C8B-B14F-4D97-AF65-F5344CB8AC3E}">
        <p14:creationId xmlns:p14="http://schemas.microsoft.com/office/powerpoint/2010/main" val="1892170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E1DD67C-5534-4A01-A649-6F6D77967D29}"/>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43405842-E536-472B-8DD0-01F21417118D}"/>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OBSERVABILITY</a:t>
            </a:r>
          </a:p>
        </p:txBody>
      </p:sp>
      <p:sp>
        <p:nvSpPr>
          <p:cNvPr id="3" name="Rectangle 2">
            <a:extLst>
              <a:ext uri="{FF2B5EF4-FFF2-40B4-BE49-F238E27FC236}">
                <a16:creationId xmlns:a16="http://schemas.microsoft.com/office/drawing/2014/main" id="{A80A8A1E-85D1-484C-8FB9-0D62184E1916}"/>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F8F7E623-59AC-4758-BD31-91633BD0BA62}"/>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C0A34C91-7C72-4503-9A12-B1C4061BFEF3}"/>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Grafana visualizes API health</a:t>
            </a:r>
          </a:p>
        </p:txBody>
      </p:sp>
      <p:sp>
        <p:nvSpPr>
          <p:cNvPr id="6" name="Rectangle 5">
            <a:extLst>
              <a:ext uri="{FF2B5EF4-FFF2-40B4-BE49-F238E27FC236}">
                <a16:creationId xmlns:a16="http://schemas.microsoft.com/office/drawing/2014/main" id="{51A5C13E-B8FF-493E-B01F-EBD5F5EFFE3D}"/>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The StudySpace dashboard shows request-rate data and backend scrape health as UP.</a:t>
            </a:r>
          </a:p>
        </p:txBody>
      </p:sp>
      <p:sp>
        <p:nvSpPr>
          <p:cNvPr id="7" name="Rectangle: Rounded Corners 6">
            <a:extLst>
              <a:ext uri="{FF2B5EF4-FFF2-40B4-BE49-F238E27FC236}">
                <a16:creationId xmlns:a16="http://schemas.microsoft.com/office/drawing/2014/main" id="{DA43B625-715E-4FB4-851A-079D01DE9199}"/>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84E71124-1204-4E78-B54B-5F4771F2B920}"/>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9" name="Rectangle: Rounded Corners 8">
            <a:extLst>
              <a:ext uri="{FF2B5EF4-FFF2-40B4-BE49-F238E27FC236}">
                <a16:creationId xmlns:a16="http://schemas.microsoft.com/office/drawing/2014/main" id="{4A2BD3A3-7FD3-4395-9399-2C84404F0F92}"/>
              </a:ext>
            </a:extLst>
          </p:cNvPr>
          <p:cNvSpPr>
            <a:spLocks noGrp="1"/>
          </p:cNvSpPr>
          <p:nvPr/>
        </p:nvSpPr>
        <p:spPr>
          <a:xfrm>
            <a:off x="1095375" y="2124075"/>
            <a:ext cx="10001250" cy="3133725"/>
          </a:xfrm>
          <a:prstGeom prst="roundRect">
            <a:avLst>
              <a:gd name="adj" fmla="val 2432"/>
            </a:avLst>
          </a:prstGeom>
          <a:solidFill>
            <a:srgbClr val="EFF5F8"/>
          </a:solidFill>
          <a:ln w="9525">
            <a:solidFill>
              <a:srgbClr val="B7C8D6"/>
            </a:solidFill>
            <a:prstDash val="solid"/>
          </a:ln>
        </p:spPr>
      </p:sp>
      <p:sp>
        <p:nvSpPr>
          <p:cNvPr id="11" name="Rectangle 10">
            <a:extLst>
              <a:ext uri="{FF2B5EF4-FFF2-40B4-BE49-F238E27FC236}">
                <a16:creationId xmlns:a16="http://schemas.microsoft.com/office/drawing/2014/main" id="{C4362D08-C7A5-4531-8A77-B6DB0EA35379}"/>
              </a:ext>
            </a:extLst>
          </p:cNvPr>
          <p:cNvSpPr>
            <a:spLocks noGrp="1"/>
          </p:cNvSpPr>
          <p:nvPr/>
        </p:nvSpPr>
        <p:spPr>
          <a:xfrm>
            <a:off x="1381125" y="3486150"/>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17-grafana-dashboard.png</a:t>
            </a:r>
          </a:p>
        </p:txBody>
      </p:sp>
      <p:sp>
        <p:nvSpPr>
          <p:cNvPr id="13" name="Rectangle: Rounded Corners 12">
            <a:extLst>
              <a:ext uri="{FF2B5EF4-FFF2-40B4-BE49-F238E27FC236}">
                <a16:creationId xmlns:a16="http://schemas.microsoft.com/office/drawing/2014/main" id="{3192AFA0-4A76-4363-889D-2489DF5F9D72}"/>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8302152A-ACF2-4DBA-8E95-169E51274E58}"/>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The p95 and 5xx panels show no samples in this capture; the dashboard is provisioned for those metrics.</a:t>
            </a:r>
          </a:p>
        </p:txBody>
      </p:sp>
      <p:pic>
        <p:nvPicPr>
          <p:cNvPr id="16" name="Picture 15">
            <a:extLst>
              <a:ext uri="{FF2B5EF4-FFF2-40B4-BE49-F238E27FC236}">
                <a16:creationId xmlns:a16="http://schemas.microsoft.com/office/drawing/2014/main" id="{00F28F90-8E13-13A0-1B47-3786C389EF50}"/>
              </a:ext>
            </a:extLst>
          </p:cNvPr>
          <p:cNvPicPr>
            <a:picLocks noChangeAspect="1"/>
          </p:cNvPicPr>
          <p:nvPr/>
        </p:nvPicPr>
        <p:blipFill>
          <a:blip r:embed="rId3"/>
          <a:srcRect t="-99" r="116" b="30417"/>
          <a:stretch>
            <a:fillRect/>
          </a:stretch>
        </p:blipFill>
        <p:spPr>
          <a:xfrm>
            <a:off x="1192801" y="1717343"/>
            <a:ext cx="9812113" cy="3986317"/>
          </a:xfrm>
          <a:prstGeom prst="rect">
            <a:avLst/>
          </a:prstGeom>
        </p:spPr>
      </p:pic>
    </p:spTree>
    <p:extLst>
      <p:ext uri="{BB962C8B-B14F-4D97-AF65-F5344CB8AC3E}">
        <p14:creationId xmlns:p14="http://schemas.microsoft.com/office/powerpoint/2010/main" val="1582645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0FDDECF-F367-4053-A495-8AFAE58EAE0D}"/>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E7FF7FD0-2542-43E5-9217-43764120A8F3}"/>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CLEANUP</a:t>
            </a:r>
          </a:p>
        </p:txBody>
      </p:sp>
      <p:sp>
        <p:nvSpPr>
          <p:cNvPr id="3" name="Rectangle 2">
            <a:extLst>
              <a:ext uri="{FF2B5EF4-FFF2-40B4-BE49-F238E27FC236}">
                <a16:creationId xmlns:a16="http://schemas.microsoft.com/office/drawing/2014/main" id="{F48A5E2E-AF44-4F9F-8065-7A90D0CE8A5F}"/>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904E7C72-8D69-4D99-B13A-60EB817F29DB}"/>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BC036185-E01C-4C63-9DA7-5F2426297313}"/>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Cloud resources were destroyed after capture</a:t>
            </a:r>
          </a:p>
        </p:txBody>
      </p:sp>
      <p:sp>
        <p:nvSpPr>
          <p:cNvPr id="6" name="Rectangle 5">
            <a:extLst>
              <a:ext uri="{FF2B5EF4-FFF2-40B4-BE49-F238E27FC236}">
                <a16:creationId xmlns:a16="http://schemas.microsoft.com/office/drawing/2014/main" id="{680BB947-5DA7-4CCD-A16A-E8D2BDE0DF5F}"/>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Terraform reported 58 resources destroyed, and the EKS cluster was verified absent.</a:t>
            </a:r>
          </a:p>
        </p:txBody>
      </p:sp>
      <p:sp>
        <p:nvSpPr>
          <p:cNvPr id="7" name="Rectangle: Rounded Corners 6">
            <a:extLst>
              <a:ext uri="{FF2B5EF4-FFF2-40B4-BE49-F238E27FC236}">
                <a16:creationId xmlns:a16="http://schemas.microsoft.com/office/drawing/2014/main" id="{E1A7988A-BFD8-451A-8EB2-46702284A2CA}"/>
              </a:ext>
            </a:extLst>
          </p:cNvPr>
          <p:cNvSpPr>
            <a:spLocks noGrp="1"/>
          </p:cNvSpPr>
          <p:nvPr/>
        </p:nvSpPr>
        <p:spPr>
          <a:xfrm>
            <a:off x="609600" y="1476375"/>
            <a:ext cx="10972800" cy="4429125"/>
          </a:xfrm>
          <a:prstGeom prst="roundRect">
            <a:avLst>
              <a:gd name="adj" fmla="val 1720"/>
            </a:avLst>
          </a:prstGeom>
          <a:solidFill>
            <a:srgbClr val="FFFFFF"/>
          </a:solidFill>
          <a:ln w="9525">
            <a:solidFill>
              <a:srgbClr val="D7E0EA"/>
            </a:solidFill>
            <a:prstDash val="solid"/>
          </a:ln>
        </p:spPr>
      </p:sp>
      <p:sp>
        <p:nvSpPr>
          <p:cNvPr id="8" name="Rectangle: Rounded Corners 7">
            <a:extLst>
              <a:ext uri="{FF2B5EF4-FFF2-40B4-BE49-F238E27FC236}">
                <a16:creationId xmlns:a16="http://schemas.microsoft.com/office/drawing/2014/main" id="{4FDE9DB1-75B1-4054-8A05-00E698EDA289}"/>
              </a:ext>
            </a:extLst>
          </p:cNvPr>
          <p:cNvSpPr>
            <a:spLocks noGrp="1"/>
          </p:cNvSpPr>
          <p:nvPr/>
        </p:nvSpPr>
        <p:spPr>
          <a:xfrm>
            <a:off x="742950" y="1609725"/>
            <a:ext cx="10706100" cy="4162425"/>
          </a:xfrm>
          <a:prstGeom prst="roundRect">
            <a:avLst>
              <a:gd name="adj" fmla="val 1831"/>
            </a:avLst>
          </a:prstGeom>
          <a:solidFill>
            <a:srgbClr val="F8FBFD"/>
          </a:solidFill>
          <a:ln w="19050">
            <a:solidFill>
              <a:srgbClr val="88A2B9"/>
            </a:solidFill>
            <a:prstDash val="solid"/>
          </a:ln>
        </p:spPr>
      </p:sp>
      <p:sp>
        <p:nvSpPr>
          <p:cNvPr id="9" name="Rectangle: Rounded Corners 8">
            <a:extLst>
              <a:ext uri="{FF2B5EF4-FFF2-40B4-BE49-F238E27FC236}">
                <a16:creationId xmlns:a16="http://schemas.microsoft.com/office/drawing/2014/main" id="{81DA8446-EAE6-4351-857D-1341ED54E894}"/>
              </a:ext>
            </a:extLst>
          </p:cNvPr>
          <p:cNvSpPr>
            <a:spLocks noGrp="1"/>
          </p:cNvSpPr>
          <p:nvPr/>
        </p:nvSpPr>
        <p:spPr>
          <a:xfrm>
            <a:off x="1095375" y="2124075"/>
            <a:ext cx="10001250" cy="3133725"/>
          </a:xfrm>
          <a:prstGeom prst="roundRect">
            <a:avLst>
              <a:gd name="adj" fmla="val 2432"/>
            </a:avLst>
          </a:prstGeom>
          <a:solidFill>
            <a:srgbClr val="EFF5F8"/>
          </a:solidFill>
          <a:ln w="9525">
            <a:solidFill>
              <a:srgbClr val="B7C8D6"/>
            </a:solidFill>
            <a:prstDash val="solid"/>
          </a:ln>
        </p:spPr>
      </p:sp>
      <p:sp>
        <p:nvSpPr>
          <p:cNvPr id="11" name="Rectangle 10">
            <a:extLst>
              <a:ext uri="{FF2B5EF4-FFF2-40B4-BE49-F238E27FC236}">
                <a16:creationId xmlns:a16="http://schemas.microsoft.com/office/drawing/2014/main" id="{A6BFEA8A-927C-487B-9C43-AD257ED5C693}"/>
              </a:ext>
            </a:extLst>
          </p:cNvPr>
          <p:cNvSpPr>
            <a:spLocks noGrp="1"/>
          </p:cNvSpPr>
          <p:nvPr/>
        </p:nvSpPr>
        <p:spPr>
          <a:xfrm>
            <a:off x="1386812" y="4890732"/>
            <a:ext cx="9429750" cy="361950"/>
          </a:xfrm>
          <a:prstGeom prst="rect">
            <a:avLst/>
          </a:prstGeom>
          <a:noFill/>
          <a:ln w="0">
            <a:noFill/>
            <a:prstDash val="solid"/>
          </a:ln>
        </p:spPr>
        <p:txBody>
          <a:bodyPr lIns="0" tIns="0" rIns="0" bIns="0" anchor="ctr">
            <a:normAutofit/>
          </a:bodyPr>
          <a:lstStyle>
            <a:defPPr algn="ctr">
              <a:defRPr sz="1500" b="1">
                <a:solidFill>
                  <a:srgbClr val="10233F"/>
                </a:solidFill>
                <a:latin typeface="Arial"/>
                <a:ea typeface="Arial"/>
                <a:cs typeface="Arial"/>
              </a:defRPr>
            </a:defPPr>
          </a:lstStyle>
          <a:p>
            <a:pPr algn="ctr">
              <a:defRPr sz="1500" b="1">
                <a:solidFill>
                  <a:srgbClr val="10233F"/>
                </a:solidFill>
                <a:latin typeface="Arial"/>
                <a:ea typeface="Arial"/>
                <a:cs typeface="Arial"/>
              </a:defRPr>
            </a:pPr>
            <a:r>
              <a:rPr sz="1500" b="1">
                <a:solidFill>
                  <a:srgbClr val="10233F"/>
                </a:solidFill>
                <a:latin typeface="Arial"/>
                <a:ea typeface="Arial"/>
                <a:cs typeface="Arial"/>
              </a:rPr>
              <a:t>18-terraform-destroyed.png</a:t>
            </a:r>
          </a:p>
        </p:txBody>
      </p:sp>
      <p:sp>
        <p:nvSpPr>
          <p:cNvPr id="13" name="Rectangle: Rounded Corners 12">
            <a:extLst>
              <a:ext uri="{FF2B5EF4-FFF2-40B4-BE49-F238E27FC236}">
                <a16:creationId xmlns:a16="http://schemas.microsoft.com/office/drawing/2014/main" id="{0AC31015-1024-4F19-BE93-110C9F46CE68}"/>
              </a:ext>
            </a:extLst>
          </p:cNvPr>
          <p:cNvSpPr>
            <a:spLocks noGrp="1"/>
          </p:cNvSpPr>
          <p:nvPr/>
        </p:nvSpPr>
        <p:spPr>
          <a:xfrm>
            <a:off x="609600" y="5953125"/>
            <a:ext cx="10972800" cy="266700"/>
          </a:xfrm>
          <a:prstGeom prst="roundRect">
            <a:avLst>
              <a:gd name="adj" fmla="val 28571"/>
            </a:avLst>
          </a:prstGeom>
          <a:solidFill>
            <a:srgbClr val="DDF3ED"/>
          </a:solidFill>
          <a:ln w="0">
            <a:noFill/>
            <a:prstDash val="solid"/>
          </a:ln>
        </p:spPr>
      </p:sp>
      <p:sp>
        <p:nvSpPr>
          <p:cNvPr id="14" name="Rectangle 13">
            <a:extLst>
              <a:ext uri="{FF2B5EF4-FFF2-40B4-BE49-F238E27FC236}">
                <a16:creationId xmlns:a16="http://schemas.microsoft.com/office/drawing/2014/main" id="{76514FD9-0121-40FD-8C52-BDB38CA7001F}"/>
              </a:ext>
            </a:extLst>
          </p:cNvPr>
          <p:cNvSpPr>
            <a:spLocks noGrp="1"/>
          </p:cNvSpPr>
          <p:nvPr/>
        </p:nvSpPr>
        <p:spPr>
          <a:xfrm>
            <a:off x="742950" y="5981700"/>
            <a:ext cx="10706100" cy="209550"/>
          </a:xfrm>
          <a:prstGeom prst="rect">
            <a:avLst/>
          </a:prstGeom>
          <a:noFill/>
          <a:ln w="0">
            <a:noFill/>
            <a:prstDash val="solid"/>
          </a:ln>
        </p:spPr>
        <p:txBody>
          <a:bodyPr lIns="0" tIns="0" rIns="0" bIns="0" anchor="ctr">
            <a:normAutofit/>
          </a:bodyPr>
          <a:lstStyle>
            <a:defPPr algn="l">
              <a:defRPr sz="975" b="1">
                <a:solidFill>
                  <a:srgbClr val="10233F"/>
                </a:solidFill>
                <a:latin typeface="Arial"/>
                <a:ea typeface="Arial"/>
                <a:cs typeface="Arial"/>
              </a:defRPr>
            </a:defPPr>
          </a:lstStyle>
          <a:p>
            <a:pPr algn="l">
              <a:defRPr sz="975" b="1">
                <a:solidFill>
                  <a:srgbClr val="10233F"/>
                </a:solidFill>
                <a:latin typeface="Arial"/>
                <a:ea typeface="Arial"/>
                <a:cs typeface="Arial"/>
              </a:defRPr>
            </a:pPr>
            <a:r>
              <a:rPr sz="975" b="1">
                <a:solidFill>
                  <a:srgbClr val="10233F"/>
                </a:solidFill>
                <a:latin typeface="Arial"/>
                <a:ea typeface="Arial"/>
                <a:cs typeface="Arial"/>
              </a:rPr>
              <a:t>Cleanup keeps the student AWS account from leaving demo infrastructure running.</a:t>
            </a:r>
          </a:p>
        </p:txBody>
      </p:sp>
      <p:pic>
        <p:nvPicPr>
          <p:cNvPr id="17" name="Picture 16">
            <a:extLst>
              <a:ext uri="{FF2B5EF4-FFF2-40B4-BE49-F238E27FC236}">
                <a16:creationId xmlns:a16="http://schemas.microsoft.com/office/drawing/2014/main" id="{57F08675-CBCB-853B-06C4-079560912440}"/>
              </a:ext>
            </a:extLst>
          </p:cNvPr>
          <p:cNvPicPr>
            <a:picLocks noChangeAspect="1"/>
          </p:cNvPicPr>
          <p:nvPr/>
        </p:nvPicPr>
        <p:blipFill>
          <a:blip r:embed="rId3"/>
          <a:stretch>
            <a:fillRect/>
          </a:stretch>
        </p:blipFill>
        <p:spPr>
          <a:xfrm>
            <a:off x="2823238" y="3414358"/>
            <a:ext cx="6534150" cy="552450"/>
          </a:xfrm>
          <a:prstGeom prst="rect">
            <a:avLst/>
          </a:prstGeom>
        </p:spPr>
      </p:pic>
    </p:spTree>
    <p:extLst>
      <p:ext uri="{BB962C8B-B14F-4D97-AF65-F5344CB8AC3E}">
        <p14:creationId xmlns:p14="http://schemas.microsoft.com/office/powerpoint/2010/main" val="841198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2A54365-B6D2-4201-988B-EB7B54C5DCC7}"/>
              </a:ext>
            </a:extLst>
          </p:cNvPr>
          <p:cNvSpPr>
            <a:spLocks noGrp="1"/>
          </p:cNvSpPr>
          <p:nvPr/>
        </p:nvSpPr>
        <p:spPr>
          <a:xfrm>
            <a:off x="0" y="0"/>
            <a:ext cx="12192000" cy="95250"/>
          </a:xfrm>
          <a:prstGeom prst="rect">
            <a:avLst/>
          </a:prstGeom>
          <a:solidFill>
            <a:srgbClr val="2A9D8F"/>
          </a:solidFill>
          <a:ln w="0">
            <a:noFill/>
            <a:prstDash val="solid"/>
          </a:ln>
        </p:spPr>
      </p:sp>
      <p:sp>
        <p:nvSpPr>
          <p:cNvPr id="2" name="Rectangle 1">
            <a:extLst>
              <a:ext uri="{FF2B5EF4-FFF2-40B4-BE49-F238E27FC236}">
                <a16:creationId xmlns:a16="http://schemas.microsoft.com/office/drawing/2014/main" id="{A31B9B83-2CE7-4027-98E5-66F80AEF8268}"/>
              </a:ext>
            </a:extLst>
          </p:cNvPr>
          <p:cNvSpPr>
            <a:spLocks noGrp="1"/>
          </p:cNvSpPr>
          <p:nvPr/>
        </p:nvSpPr>
        <p:spPr>
          <a:xfrm>
            <a:off x="609600" y="238125"/>
            <a:ext cx="7239000" cy="190500"/>
          </a:xfrm>
          <a:prstGeom prst="rect">
            <a:avLst/>
          </a:prstGeom>
          <a:noFill/>
          <a:ln w="0">
            <a:noFill/>
            <a:prstDash val="solid"/>
          </a:ln>
        </p:spPr>
        <p:txBody>
          <a:bodyPr lIns="0" tIns="0" rIns="0" bIns="0" anchor="ctr">
            <a:normAutofit/>
          </a:bodyPr>
          <a:lstStyle>
            <a:defPPr algn="l">
              <a:defRPr sz="900" b="1">
                <a:solidFill>
                  <a:srgbClr val="1C5D99"/>
                </a:solidFill>
                <a:latin typeface="Arial"/>
                <a:ea typeface="Arial"/>
                <a:cs typeface="Arial"/>
              </a:defRPr>
            </a:defPPr>
          </a:lstStyle>
          <a:p>
            <a:pPr algn="l">
              <a:defRPr sz="900" b="1">
                <a:solidFill>
                  <a:srgbClr val="1C5D99"/>
                </a:solidFill>
                <a:latin typeface="Arial"/>
                <a:ea typeface="Arial"/>
                <a:cs typeface="Arial"/>
              </a:defRPr>
            </a:pPr>
            <a:r>
              <a:rPr sz="900" b="1">
                <a:solidFill>
                  <a:srgbClr val="1C5D99"/>
                </a:solidFill>
                <a:latin typeface="Arial"/>
                <a:ea typeface="Arial"/>
                <a:cs typeface="Arial"/>
              </a:rPr>
              <a:t>SUBMISSION SUMMARY</a:t>
            </a:r>
          </a:p>
        </p:txBody>
      </p:sp>
      <p:sp>
        <p:nvSpPr>
          <p:cNvPr id="3" name="Rectangle 2">
            <a:extLst>
              <a:ext uri="{FF2B5EF4-FFF2-40B4-BE49-F238E27FC236}">
                <a16:creationId xmlns:a16="http://schemas.microsoft.com/office/drawing/2014/main" id="{7F1D68A0-73DB-4A3E-AB95-D0F179C9AB6D}"/>
              </a:ext>
            </a:extLst>
          </p:cNvPr>
          <p:cNvSpPr>
            <a:spLocks noGrp="1"/>
          </p:cNvSpPr>
          <p:nvPr/>
        </p:nvSpPr>
        <p:spPr>
          <a:xfrm>
            <a:off x="609600" y="6334125"/>
            <a:ext cx="10972800" cy="9525"/>
          </a:xfrm>
          <a:prstGeom prst="rect">
            <a:avLst/>
          </a:prstGeom>
          <a:solidFill>
            <a:srgbClr val="D7E0EA"/>
          </a:solidFill>
          <a:ln w="0">
            <a:noFill/>
            <a:prstDash val="solid"/>
          </a:ln>
        </p:spPr>
      </p:sp>
      <p:sp>
        <p:nvSpPr>
          <p:cNvPr id="4" name="Rectangle 3">
            <a:extLst>
              <a:ext uri="{FF2B5EF4-FFF2-40B4-BE49-F238E27FC236}">
                <a16:creationId xmlns:a16="http://schemas.microsoft.com/office/drawing/2014/main" id="{19F3227D-2DD5-40F0-A345-31B48D91DA84}"/>
              </a:ext>
            </a:extLst>
          </p:cNvPr>
          <p:cNvSpPr>
            <a:spLocks noGrp="1"/>
          </p:cNvSpPr>
          <p:nvPr/>
        </p:nvSpPr>
        <p:spPr>
          <a:xfrm>
            <a:off x="609600" y="6448425"/>
            <a:ext cx="9334500" cy="171450"/>
          </a:xfrm>
          <a:prstGeom prst="rect">
            <a:avLst/>
          </a:prstGeom>
          <a:noFill/>
          <a:ln w="0">
            <a:noFill/>
            <a:prstDash val="solid"/>
          </a:ln>
        </p:spPr>
        <p:txBody>
          <a:bodyPr lIns="0" tIns="0" rIns="0" bIns="0" anchor="ctr">
            <a:normAutofit/>
          </a:bodyPr>
          <a:lstStyle>
            <a:defPPr algn="l">
              <a:defRPr sz="825" b="0">
                <a:solidFill>
                  <a:srgbClr val="526579"/>
                </a:solidFill>
                <a:latin typeface="Arial"/>
                <a:ea typeface="Arial"/>
                <a:cs typeface="Arial"/>
              </a:defRPr>
            </a:defPPr>
          </a:lstStyle>
          <a:p>
            <a:pPr algn="l">
              <a:defRPr sz="825" b="0">
                <a:solidFill>
                  <a:srgbClr val="526579"/>
                </a:solidFill>
                <a:latin typeface="Arial"/>
                <a:ea typeface="Arial"/>
                <a:cs typeface="Arial"/>
              </a:defRPr>
            </a:pPr>
            <a:r>
              <a:rPr sz="825" b="0">
                <a:solidFill>
                  <a:srgbClr val="526579"/>
                </a:solidFill>
                <a:latin typeface="Arial"/>
                <a:ea typeface="Arial"/>
                <a:cs typeface="Arial"/>
              </a:rPr>
              <a:t>Session 21 • Evidence captured before AWS teardown</a:t>
            </a:r>
          </a:p>
        </p:txBody>
      </p:sp>
      <p:sp>
        <p:nvSpPr>
          <p:cNvPr id="5" name="Rectangle 4">
            <a:extLst>
              <a:ext uri="{FF2B5EF4-FFF2-40B4-BE49-F238E27FC236}">
                <a16:creationId xmlns:a16="http://schemas.microsoft.com/office/drawing/2014/main" id="{A6322686-98B9-4F9E-A14E-FDBF61342159}"/>
              </a:ext>
            </a:extLst>
          </p:cNvPr>
          <p:cNvSpPr>
            <a:spLocks noGrp="1"/>
          </p:cNvSpPr>
          <p:nvPr/>
        </p:nvSpPr>
        <p:spPr>
          <a:xfrm>
            <a:off x="609600" y="552450"/>
            <a:ext cx="10972800" cy="495300"/>
          </a:xfrm>
          <a:prstGeom prst="rect">
            <a:avLst/>
          </a:prstGeom>
          <a:noFill/>
          <a:ln w="0">
            <a:noFill/>
            <a:prstDash val="solid"/>
          </a:ln>
        </p:spPr>
        <p:txBody>
          <a:bodyPr lIns="0" tIns="0" rIns="0" bIns="0" anchor="ctr">
            <a:normAutofit/>
          </a:bodyPr>
          <a:lstStyle>
            <a:defPPr algn="l">
              <a:defRPr sz="2550" b="1">
                <a:solidFill>
                  <a:srgbClr val="10233F"/>
                </a:solidFill>
                <a:latin typeface="Arial"/>
                <a:ea typeface="Arial"/>
                <a:cs typeface="Arial"/>
              </a:defRPr>
            </a:defPPr>
          </a:lstStyle>
          <a:p>
            <a:pPr algn="l">
              <a:defRPr sz="2550" b="1">
                <a:solidFill>
                  <a:srgbClr val="10233F"/>
                </a:solidFill>
                <a:latin typeface="Arial"/>
                <a:ea typeface="Arial"/>
                <a:cs typeface="Arial"/>
              </a:defRPr>
            </a:pPr>
            <a:r>
              <a:rPr sz="2550" b="1">
                <a:solidFill>
                  <a:srgbClr val="10233F"/>
                </a:solidFill>
                <a:latin typeface="Arial"/>
                <a:ea typeface="Arial"/>
                <a:cs typeface="Arial"/>
              </a:rPr>
              <a:t>A complete capstone lifecycle, with honest evidence</a:t>
            </a:r>
          </a:p>
        </p:txBody>
      </p:sp>
      <p:sp>
        <p:nvSpPr>
          <p:cNvPr id="6" name="Rectangle 5">
            <a:extLst>
              <a:ext uri="{FF2B5EF4-FFF2-40B4-BE49-F238E27FC236}">
                <a16:creationId xmlns:a16="http://schemas.microsoft.com/office/drawing/2014/main" id="{0EC3A0C3-72DD-41EA-92C3-960B9A97471D}"/>
              </a:ext>
            </a:extLst>
          </p:cNvPr>
          <p:cNvSpPr>
            <a:spLocks noGrp="1"/>
          </p:cNvSpPr>
          <p:nvPr/>
        </p:nvSpPr>
        <p:spPr>
          <a:xfrm>
            <a:off x="609600" y="1028700"/>
            <a:ext cx="10972800" cy="304800"/>
          </a:xfrm>
          <a:prstGeom prst="rect">
            <a:avLst/>
          </a:prstGeom>
          <a:noFill/>
          <a:ln w="0">
            <a:noFill/>
            <a:prstDash val="solid"/>
          </a:ln>
        </p:spPr>
        <p:txBody>
          <a:bodyPr lIns="0" tIns="0" rIns="0" bIns="0" anchor="ctr">
            <a:normAutofit/>
          </a:bodyPr>
          <a:lstStyle>
            <a:defPPr algn="l">
              <a:defRPr sz="1275" b="0">
                <a:solidFill>
                  <a:srgbClr val="526579"/>
                </a:solidFill>
                <a:latin typeface="Arial"/>
                <a:ea typeface="Arial"/>
                <a:cs typeface="Arial"/>
              </a:defRPr>
            </a:defPPr>
          </a:lstStyle>
          <a:p>
            <a:pPr algn="l">
              <a:defRPr sz="1275" b="0">
                <a:solidFill>
                  <a:srgbClr val="526579"/>
                </a:solidFill>
                <a:latin typeface="Arial"/>
                <a:ea typeface="Arial"/>
                <a:cs typeface="Arial"/>
              </a:defRPr>
            </a:pPr>
            <a:r>
              <a:rPr sz="1275" b="0">
                <a:solidFill>
                  <a:srgbClr val="526579"/>
                </a:solidFill>
                <a:latin typeface="Arial"/>
                <a:ea typeface="Arial"/>
                <a:cs typeface="Arial"/>
              </a:rPr>
              <a:t>What is complete, and what a live reviewer should know.</a:t>
            </a:r>
          </a:p>
        </p:txBody>
      </p:sp>
      <p:sp>
        <p:nvSpPr>
          <p:cNvPr id="7" name="Rectangle: Rounded Corners 6">
            <a:extLst>
              <a:ext uri="{FF2B5EF4-FFF2-40B4-BE49-F238E27FC236}">
                <a16:creationId xmlns:a16="http://schemas.microsoft.com/office/drawing/2014/main" id="{C7DBA6A8-AF25-40F5-AD49-692747258840}"/>
              </a:ext>
            </a:extLst>
          </p:cNvPr>
          <p:cNvSpPr>
            <a:spLocks noGrp="1"/>
          </p:cNvSpPr>
          <p:nvPr/>
        </p:nvSpPr>
        <p:spPr>
          <a:xfrm>
            <a:off x="609600" y="1581150"/>
            <a:ext cx="5143500" cy="1619250"/>
          </a:xfrm>
          <a:prstGeom prst="roundRect">
            <a:avLst>
              <a:gd name="adj" fmla="val 4706"/>
            </a:avLst>
          </a:prstGeom>
          <a:solidFill>
            <a:srgbClr val="FFFFFF"/>
          </a:solidFill>
          <a:ln w="9525">
            <a:solidFill>
              <a:srgbClr val="D7E0EA"/>
            </a:solidFill>
            <a:prstDash val="solid"/>
          </a:ln>
        </p:spPr>
      </p:sp>
      <p:sp>
        <p:nvSpPr>
          <p:cNvPr id="8" name="Rectangle 7">
            <a:extLst>
              <a:ext uri="{FF2B5EF4-FFF2-40B4-BE49-F238E27FC236}">
                <a16:creationId xmlns:a16="http://schemas.microsoft.com/office/drawing/2014/main" id="{FCE43585-55D5-4EE1-9D9D-8539AC212372}"/>
              </a:ext>
            </a:extLst>
          </p:cNvPr>
          <p:cNvSpPr>
            <a:spLocks noGrp="1"/>
          </p:cNvSpPr>
          <p:nvPr/>
        </p:nvSpPr>
        <p:spPr>
          <a:xfrm>
            <a:off x="609600" y="1581150"/>
            <a:ext cx="66675" cy="1619250"/>
          </a:xfrm>
          <a:prstGeom prst="rect">
            <a:avLst/>
          </a:prstGeom>
          <a:solidFill>
            <a:srgbClr val="2A9D8F"/>
          </a:solidFill>
          <a:ln w="0">
            <a:noFill/>
            <a:prstDash val="solid"/>
          </a:ln>
        </p:spPr>
      </p:sp>
      <p:sp>
        <p:nvSpPr>
          <p:cNvPr id="9" name="Rectangle 8">
            <a:extLst>
              <a:ext uri="{FF2B5EF4-FFF2-40B4-BE49-F238E27FC236}">
                <a16:creationId xmlns:a16="http://schemas.microsoft.com/office/drawing/2014/main" id="{0D57CF34-7CE0-4FD4-9CC2-A3E5C9B5DE2F}"/>
              </a:ext>
            </a:extLst>
          </p:cNvPr>
          <p:cNvSpPr>
            <a:spLocks noGrp="1"/>
          </p:cNvSpPr>
          <p:nvPr/>
        </p:nvSpPr>
        <p:spPr>
          <a:xfrm>
            <a:off x="819150" y="1743075"/>
            <a:ext cx="474345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Implemented and evidenced</a:t>
            </a:r>
          </a:p>
        </p:txBody>
      </p:sp>
      <p:sp>
        <p:nvSpPr>
          <p:cNvPr id="10" name="Rectangle 9">
            <a:extLst>
              <a:ext uri="{FF2B5EF4-FFF2-40B4-BE49-F238E27FC236}">
                <a16:creationId xmlns:a16="http://schemas.microsoft.com/office/drawing/2014/main" id="{007CAEA9-4640-4664-873A-89317DF75BAF}"/>
              </a:ext>
            </a:extLst>
          </p:cNvPr>
          <p:cNvSpPr>
            <a:spLocks noGrp="1"/>
          </p:cNvSpPr>
          <p:nvPr/>
        </p:nvSpPr>
        <p:spPr>
          <a:xfrm>
            <a:off x="819150" y="2085975"/>
            <a:ext cx="474345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Application, tests, Compose, GitHub Actions, Trivy, GHCR, Terraform, EKS, Helm, Ingress, and Prometheus/Grafana.</a:t>
            </a:r>
          </a:p>
        </p:txBody>
      </p:sp>
      <p:sp>
        <p:nvSpPr>
          <p:cNvPr id="11" name="Rectangle: Rounded Corners 10">
            <a:extLst>
              <a:ext uri="{FF2B5EF4-FFF2-40B4-BE49-F238E27FC236}">
                <a16:creationId xmlns:a16="http://schemas.microsoft.com/office/drawing/2014/main" id="{ECD12F91-44BD-49CB-81A6-DECB72182069}"/>
              </a:ext>
            </a:extLst>
          </p:cNvPr>
          <p:cNvSpPr>
            <a:spLocks noGrp="1"/>
          </p:cNvSpPr>
          <p:nvPr/>
        </p:nvSpPr>
        <p:spPr>
          <a:xfrm>
            <a:off x="6438900" y="1581150"/>
            <a:ext cx="5143500" cy="1619250"/>
          </a:xfrm>
          <a:prstGeom prst="roundRect">
            <a:avLst>
              <a:gd name="adj" fmla="val 4706"/>
            </a:avLst>
          </a:prstGeom>
          <a:solidFill>
            <a:srgbClr val="FFFFFF"/>
          </a:solidFill>
          <a:ln w="9525">
            <a:solidFill>
              <a:srgbClr val="D7E0EA"/>
            </a:solidFill>
            <a:prstDash val="solid"/>
          </a:ln>
        </p:spPr>
      </p:sp>
      <p:sp>
        <p:nvSpPr>
          <p:cNvPr id="12" name="Rectangle 11">
            <a:extLst>
              <a:ext uri="{FF2B5EF4-FFF2-40B4-BE49-F238E27FC236}">
                <a16:creationId xmlns:a16="http://schemas.microsoft.com/office/drawing/2014/main" id="{5B1152EA-7CDD-49CE-87FC-04371ED428E6}"/>
              </a:ext>
            </a:extLst>
          </p:cNvPr>
          <p:cNvSpPr>
            <a:spLocks noGrp="1"/>
          </p:cNvSpPr>
          <p:nvPr/>
        </p:nvSpPr>
        <p:spPr>
          <a:xfrm>
            <a:off x="6438900" y="1581150"/>
            <a:ext cx="66675" cy="1619250"/>
          </a:xfrm>
          <a:prstGeom prst="rect">
            <a:avLst/>
          </a:prstGeom>
          <a:solidFill>
            <a:srgbClr val="1C5D99"/>
          </a:solidFill>
          <a:ln w="0">
            <a:noFill/>
            <a:prstDash val="solid"/>
          </a:ln>
        </p:spPr>
      </p:sp>
      <p:sp>
        <p:nvSpPr>
          <p:cNvPr id="13" name="Rectangle 12">
            <a:extLst>
              <a:ext uri="{FF2B5EF4-FFF2-40B4-BE49-F238E27FC236}">
                <a16:creationId xmlns:a16="http://schemas.microsoft.com/office/drawing/2014/main" id="{ABF71980-7362-46C7-BA68-4D3093460803}"/>
              </a:ext>
            </a:extLst>
          </p:cNvPr>
          <p:cNvSpPr>
            <a:spLocks noGrp="1"/>
          </p:cNvSpPr>
          <p:nvPr/>
        </p:nvSpPr>
        <p:spPr>
          <a:xfrm>
            <a:off x="6648450" y="1743075"/>
            <a:ext cx="474345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Validated outcomes</a:t>
            </a:r>
          </a:p>
        </p:txBody>
      </p:sp>
      <p:sp>
        <p:nvSpPr>
          <p:cNvPr id="14" name="Rectangle 13">
            <a:extLst>
              <a:ext uri="{FF2B5EF4-FFF2-40B4-BE49-F238E27FC236}">
                <a16:creationId xmlns:a16="http://schemas.microsoft.com/office/drawing/2014/main" id="{A83D2F87-EEA8-4574-B123-7879CFF65F19}"/>
              </a:ext>
            </a:extLst>
          </p:cNvPr>
          <p:cNvSpPr>
            <a:spLocks noGrp="1"/>
          </p:cNvSpPr>
          <p:nvPr/>
        </p:nvSpPr>
        <p:spPr>
          <a:xfrm>
            <a:off x="6648450" y="2085975"/>
            <a:ext cx="474345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6 API tests passed • final CI run green • both Trivy scans clean • Prometheus targets UP • AWS resources destroyed.</a:t>
            </a:r>
          </a:p>
        </p:txBody>
      </p:sp>
      <p:sp>
        <p:nvSpPr>
          <p:cNvPr id="15" name="Rectangle: Rounded Corners 14">
            <a:extLst>
              <a:ext uri="{FF2B5EF4-FFF2-40B4-BE49-F238E27FC236}">
                <a16:creationId xmlns:a16="http://schemas.microsoft.com/office/drawing/2014/main" id="{2ACB2A6D-51C2-46A1-95A0-CC67DE961636}"/>
              </a:ext>
            </a:extLst>
          </p:cNvPr>
          <p:cNvSpPr>
            <a:spLocks noGrp="1"/>
          </p:cNvSpPr>
          <p:nvPr/>
        </p:nvSpPr>
        <p:spPr>
          <a:xfrm>
            <a:off x="609600" y="3524250"/>
            <a:ext cx="5143500" cy="1619250"/>
          </a:xfrm>
          <a:prstGeom prst="roundRect">
            <a:avLst>
              <a:gd name="adj" fmla="val 4706"/>
            </a:avLst>
          </a:prstGeom>
          <a:solidFill>
            <a:srgbClr val="FFFFFF"/>
          </a:solidFill>
          <a:ln w="9525">
            <a:solidFill>
              <a:srgbClr val="D7E0EA"/>
            </a:solidFill>
            <a:prstDash val="solid"/>
          </a:ln>
        </p:spPr>
      </p:sp>
      <p:sp>
        <p:nvSpPr>
          <p:cNvPr id="16" name="Rectangle 15">
            <a:extLst>
              <a:ext uri="{FF2B5EF4-FFF2-40B4-BE49-F238E27FC236}">
                <a16:creationId xmlns:a16="http://schemas.microsoft.com/office/drawing/2014/main" id="{0CC08D9A-B14C-4658-A317-91E9C5C44F28}"/>
              </a:ext>
            </a:extLst>
          </p:cNvPr>
          <p:cNvSpPr>
            <a:spLocks noGrp="1"/>
          </p:cNvSpPr>
          <p:nvPr/>
        </p:nvSpPr>
        <p:spPr>
          <a:xfrm>
            <a:off x="609600" y="3524250"/>
            <a:ext cx="66675" cy="1619250"/>
          </a:xfrm>
          <a:prstGeom prst="rect">
            <a:avLst/>
          </a:prstGeom>
          <a:solidFill>
            <a:srgbClr val="F4B942"/>
          </a:solidFill>
          <a:ln w="0">
            <a:noFill/>
            <a:prstDash val="solid"/>
          </a:ln>
        </p:spPr>
      </p:sp>
      <p:sp>
        <p:nvSpPr>
          <p:cNvPr id="17" name="Rectangle 16">
            <a:extLst>
              <a:ext uri="{FF2B5EF4-FFF2-40B4-BE49-F238E27FC236}">
                <a16:creationId xmlns:a16="http://schemas.microsoft.com/office/drawing/2014/main" id="{66124388-C86A-454C-B40D-C32A4F7F05BB}"/>
              </a:ext>
            </a:extLst>
          </p:cNvPr>
          <p:cNvSpPr>
            <a:spLocks noGrp="1"/>
          </p:cNvSpPr>
          <p:nvPr/>
        </p:nvSpPr>
        <p:spPr>
          <a:xfrm>
            <a:off x="819150" y="3686175"/>
            <a:ext cx="474345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Current runtime state</a:t>
            </a:r>
          </a:p>
        </p:txBody>
      </p:sp>
      <p:sp>
        <p:nvSpPr>
          <p:cNvPr id="18" name="Rectangle 17">
            <a:extLst>
              <a:ext uri="{FF2B5EF4-FFF2-40B4-BE49-F238E27FC236}">
                <a16:creationId xmlns:a16="http://schemas.microsoft.com/office/drawing/2014/main" id="{B982715D-0743-4ACC-9FED-683D3BF31083}"/>
              </a:ext>
            </a:extLst>
          </p:cNvPr>
          <p:cNvSpPr>
            <a:spLocks noGrp="1"/>
          </p:cNvSpPr>
          <p:nvPr/>
        </p:nvSpPr>
        <p:spPr>
          <a:xfrm>
            <a:off x="819150" y="4029075"/>
            <a:ext cx="474345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The local Compose stack can be started with `docker compose up --build`. AWS infrastructure is not running.</a:t>
            </a:r>
          </a:p>
        </p:txBody>
      </p:sp>
      <p:sp>
        <p:nvSpPr>
          <p:cNvPr id="19" name="Rectangle: Rounded Corners 18">
            <a:extLst>
              <a:ext uri="{FF2B5EF4-FFF2-40B4-BE49-F238E27FC236}">
                <a16:creationId xmlns:a16="http://schemas.microsoft.com/office/drawing/2014/main" id="{7A41187F-C7B1-4A0F-8A68-3FC88F91CA8F}"/>
              </a:ext>
            </a:extLst>
          </p:cNvPr>
          <p:cNvSpPr>
            <a:spLocks noGrp="1"/>
          </p:cNvSpPr>
          <p:nvPr/>
        </p:nvSpPr>
        <p:spPr>
          <a:xfrm>
            <a:off x="6438900" y="3524250"/>
            <a:ext cx="5143500" cy="1619250"/>
          </a:xfrm>
          <a:prstGeom prst="roundRect">
            <a:avLst>
              <a:gd name="adj" fmla="val 4706"/>
            </a:avLst>
          </a:prstGeom>
          <a:solidFill>
            <a:srgbClr val="FFFFFF"/>
          </a:solidFill>
          <a:ln w="9525">
            <a:solidFill>
              <a:srgbClr val="D7E0EA"/>
            </a:solidFill>
            <a:prstDash val="solid"/>
          </a:ln>
        </p:spPr>
      </p:sp>
      <p:sp>
        <p:nvSpPr>
          <p:cNvPr id="20" name="Rectangle 19">
            <a:extLst>
              <a:ext uri="{FF2B5EF4-FFF2-40B4-BE49-F238E27FC236}">
                <a16:creationId xmlns:a16="http://schemas.microsoft.com/office/drawing/2014/main" id="{FAD6E84A-A6E8-4C58-BB77-260A367CF752}"/>
              </a:ext>
            </a:extLst>
          </p:cNvPr>
          <p:cNvSpPr>
            <a:spLocks noGrp="1"/>
          </p:cNvSpPr>
          <p:nvPr/>
        </p:nvSpPr>
        <p:spPr>
          <a:xfrm>
            <a:off x="6438900" y="3524250"/>
            <a:ext cx="66675" cy="1619250"/>
          </a:xfrm>
          <a:prstGeom prst="rect">
            <a:avLst/>
          </a:prstGeom>
          <a:solidFill>
            <a:srgbClr val="2A9D8F"/>
          </a:solidFill>
          <a:ln w="0">
            <a:noFill/>
            <a:prstDash val="solid"/>
          </a:ln>
        </p:spPr>
      </p:sp>
      <p:sp>
        <p:nvSpPr>
          <p:cNvPr id="21" name="Rectangle 20">
            <a:extLst>
              <a:ext uri="{FF2B5EF4-FFF2-40B4-BE49-F238E27FC236}">
                <a16:creationId xmlns:a16="http://schemas.microsoft.com/office/drawing/2014/main" id="{E9E837B5-97B4-44CC-98DF-816EE04E32B0}"/>
              </a:ext>
            </a:extLst>
          </p:cNvPr>
          <p:cNvSpPr>
            <a:spLocks noGrp="1"/>
          </p:cNvSpPr>
          <p:nvPr/>
        </p:nvSpPr>
        <p:spPr>
          <a:xfrm>
            <a:off x="6648450" y="3686175"/>
            <a:ext cx="4743450" cy="276225"/>
          </a:xfrm>
          <a:prstGeom prst="rect">
            <a:avLst/>
          </a:prstGeom>
          <a:noFill/>
          <a:ln w="0">
            <a:noFill/>
            <a:prstDash val="solid"/>
          </a:ln>
        </p:spPr>
        <p:txBody>
          <a:bodyPr lIns="0" tIns="0" rIns="0" bIns="0" anchor="ctr">
            <a:normAutofit/>
          </a:bodyPr>
          <a:lstStyle>
            <a:defPPr algn="l">
              <a:defRPr sz="1425" b="1">
                <a:solidFill>
                  <a:srgbClr val="10233F"/>
                </a:solidFill>
                <a:latin typeface="Arial"/>
                <a:ea typeface="Arial"/>
                <a:cs typeface="Arial"/>
              </a:defRPr>
            </a:defPPr>
          </a:lstStyle>
          <a:p>
            <a:pPr algn="l">
              <a:defRPr sz="1425" b="1">
                <a:solidFill>
                  <a:srgbClr val="10233F"/>
                </a:solidFill>
                <a:latin typeface="Arial"/>
                <a:ea typeface="Arial"/>
                <a:cs typeface="Arial"/>
              </a:defRPr>
            </a:pPr>
            <a:r>
              <a:rPr sz="1425" b="1">
                <a:solidFill>
                  <a:srgbClr val="10233F"/>
                </a:solidFill>
                <a:latin typeface="Arial"/>
                <a:ea typeface="Arial"/>
                <a:cs typeface="Arial"/>
              </a:rPr>
              <a:t>Live demo sequence</a:t>
            </a:r>
          </a:p>
        </p:txBody>
      </p:sp>
      <p:sp>
        <p:nvSpPr>
          <p:cNvPr id="22" name="Rectangle 21">
            <a:extLst>
              <a:ext uri="{FF2B5EF4-FFF2-40B4-BE49-F238E27FC236}">
                <a16:creationId xmlns:a16="http://schemas.microsoft.com/office/drawing/2014/main" id="{44C4EB53-A20C-486B-B090-BDC385082EFD}"/>
              </a:ext>
            </a:extLst>
          </p:cNvPr>
          <p:cNvSpPr>
            <a:spLocks noGrp="1"/>
          </p:cNvSpPr>
          <p:nvPr/>
        </p:nvSpPr>
        <p:spPr>
          <a:xfrm>
            <a:off x="6648450" y="4029075"/>
            <a:ext cx="4743450" cy="990600"/>
          </a:xfrm>
          <a:prstGeom prst="rect">
            <a:avLst/>
          </a:prstGeom>
          <a:noFill/>
          <a:ln w="0">
            <a:noFill/>
            <a:prstDash val="solid"/>
          </a:ln>
        </p:spPr>
        <p:txBody>
          <a:bodyPr lIns="0" tIns="0" rIns="0" bIns="0" anchor="t">
            <a:normAutofit/>
          </a:bodyPr>
          <a:lstStyle>
            <a:defPPr algn="l">
              <a:defRPr sz="1200" b="0">
                <a:solidFill>
                  <a:srgbClr val="526579"/>
                </a:solidFill>
                <a:latin typeface="Arial"/>
                <a:ea typeface="Arial"/>
                <a:cs typeface="Arial"/>
              </a:defRPr>
            </a:defPPr>
          </a:lstStyle>
          <a:p>
            <a:pPr algn="l">
              <a:defRPr sz="1200" b="0">
                <a:solidFill>
                  <a:srgbClr val="526579"/>
                </a:solidFill>
                <a:latin typeface="Arial"/>
                <a:ea typeface="Arial"/>
                <a:cs typeface="Arial"/>
              </a:defRPr>
            </a:pPr>
            <a:r>
              <a:rPr sz="1200" b="0">
                <a:solidFill>
                  <a:srgbClr val="526579"/>
                </a:solidFill>
                <a:latin typeface="Arial"/>
                <a:ea typeface="Arial"/>
                <a:cs typeface="Arial"/>
              </a:rPr>
              <a:t>Start Compose for the app; show passing tests and Actions run; use screenshots for cloud stages unless you intentionally reprovision AWS.</a:t>
            </a:r>
          </a:p>
        </p:txBody>
      </p:sp>
      <p:sp>
        <p:nvSpPr>
          <p:cNvPr id="23" name="Rectangle 22">
            <a:extLst>
              <a:ext uri="{FF2B5EF4-FFF2-40B4-BE49-F238E27FC236}">
                <a16:creationId xmlns:a16="http://schemas.microsoft.com/office/drawing/2014/main" id="{AB140848-9772-4BB0-8101-B8C074A40C2C}"/>
              </a:ext>
            </a:extLst>
          </p:cNvPr>
          <p:cNvSpPr>
            <a:spLocks noGrp="1"/>
          </p:cNvSpPr>
          <p:nvPr/>
        </p:nvSpPr>
        <p:spPr>
          <a:xfrm>
            <a:off x="857250" y="5553075"/>
            <a:ext cx="10477500" cy="333375"/>
          </a:xfrm>
          <a:prstGeom prst="rect">
            <a:avLst/>
          </a:prstGeom>
          <a:noFill/>
          <a:ln w="0">
            <a:noFill/>
            <a:prstDash val="solid"/>
          </a:ln>
        </p:spPr>
        <p:txBody>
          <a:bodyPr lIns="0" tIns="0" rIns="0" bIns="0" anchor="ctr">
            <a:normAutofit/>
          </a:bodyPr>
          <a:lstStyle>
            <a:defPPr algn="ctr">
              <a:defRPr sz="1350" b="1">
                <a:solidFill>
                  <a:srgbClr val="10233F"/>
                </a:solidFill>
                <a:latin typeface="Arial"/>
                <a:ea typeface="Arial"/>
                <a:cs typeface="Arial"/>
              </a:defRPr>
            </a:defPPr>
          </a:lstStyle>
          <a:p>
            <a:pPr algn="ctr">
              <a:defRPr sz="1350" b="1">
                <a:solidFill>
                  <a:srgbClr val="10233F"/>
                </a:solidFill>
                <a:latin typeface="Arial"/>
                <a:ea typeface="Arial"/>
                <a:cs typeface="Arial"/>
              </a:defRPr>
            </a:pPr>
            <a:r>
              <a:rPr sz="1350" b="1" dirty="0">
                <a:solidFill>
                  <a:srgbClr val="10233F"/>
                </a:solidFill>
                <a:latin typeface="Arial"/>
                <a:ea typeface="Arial"/>
                <a:cs typeface="Arial"/>
              </a:rPr>
              <a:t>Project files: README.md </a:t>
            </a:r>
            <a:r>
              <a:rPr lang="en-US" sz="1350" b="1">
                <a:solidFill>
                  <a:srgbClr val="10233F"/>
                </a:solidFill>
                <a:latin typeface="Arial"/>
                <a:ea typeface="Arial"/>
                <a:cs typeface="Arial"/>
              </a:rPr>
              <a:t>•</a:t>
            </a:r>
            <a:r>
              <a:rPr sz="1350" b="1" dirty="0">
                <a:solidFill>
                  <a:srgbClr val="10233F"/>
                </a:solidFill>
                <a:latin typeface="Arial"/>
                <a:ea typeface="Arial"/>
                <a:cs typeface="Arial"/>
              </a:rPr>
              <a:t>  evidence/  •  StudySpace-DevOps-Capstone.pptx</a:t>
            </a:r>
          </a:p>
        </p:txBody>
      </p:sp>
    </p:spTree>
    <p:extLst>
      <p:ext uri="{BB962C8B-B14F-4D97-AF65-F5344CB8AC3E}">
        <p14:creationId xmlns:p14="http://schemas.microsoft.com/office/powerpoint/2010/main" val="28001688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DocSecurity>0</DocSecurity>
  <PresentationFormat>Widescreen</PresentationFormat>
  <Slides>27</Slides>
  <Notes>27</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cp:revision>170</cp:revision>
  <dcterms:created xsi:type="dcterms:W3CDTF">2026-10-16T09:56:39Z</dcterms:created>
  <dcterms:modified xsi:type="dcterms:W3CDTF">2026-10-16T10:54:24Z</dcterms:modified>
</cp:coreProperties>
</file>